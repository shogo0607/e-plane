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29785ae7164cfc" /><Relationship Type="http://schemas.openxmlformats.org/officeDocument/2006/relationships/extended-properties" Target="/docProps/app.xml" Id="Re1dc6dd84e994f48" /><Relationship Type="http://schemas.openxmlformats.org/officeDocument/2006/relationships/officeDocument" Target="/ppt/presentation.xml" Id="Rde28b0bdfd86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b01a19891d4cf0"/>
  </p:sldMasterIdLst>
  <p:notesMasterIdLst>
    <p:notesMasterId xmlns:r="http://schemas.openxmlformats.org/officeDocument/2006/relationships" r:id="R4f4f0658b5e443b7"/>
  </p:notesMasterIdLst>
  <p:sldIdLst>
    <p:sldId xmlns:r="http://schemas.openxmlformats.org/officeDocument/2006/relationships" id="256" r:id="R50d3627ecf2d494c"/>
    <p:sldId xmlns:r="http://schemas.openxmlformats.org/officeDocument/2006/relationships" id="257" r:id="R0cac998cc2764610"/>
    <p:sldId xmlns:r="http://schemas.openxmlformats.org/officeDocument/2006/relationships" id="258" r:id="R7738c545efb745b0"/>
    <p:sldId xmlns:r="http://schemas.openxmlformats.org/officeDocument/2006/relationships" id="259" r:id="R57bd4b4f50c842bc"/>
    <p:sldId xmlns:r="http://schemas.openxmlformats.org/officeDocument/2006/relationships" id="260" r:id="Re33ef02fd1764a8d"/>
    <p:sldId xmlns:r="http://schemas.openxmlformats.org/officeDocument/2006/relationships" id="261" r:id="Ra9fd305398ef4611"/>
    <p:sldId xmlns:r="http://schemas.openxmlformats.org/officeDocument/2006/relationships" id="262" r:id="R91328d930c724b83"/>
    <p:sldId xmlns:r="http://schemas.openxmlformats.org/officeDocument/2006/relationships" id="263" r:id="R6a4078b161214bb3"/>
    <p:sldId xmlns:r="http://schemas.openxmlformats.org/officeDocument/2006/relationships" id="264" r:id="Rf00b0c0174094eb9"/>
    <p:sldId xmlns:r="http://schemas.openxmlformats.org/officeDocument/2006/relationships" id="265" r:id="R1f0922e16dbf41a4"/>
    <p:sldId xmlns:r="http://schemas.openxmlformats.org/officeDocument/2006/relationships" id="266" r:id="Red25ba6f62194967"/>
    <p:sldId xmlns:r="http://schemas.openxmlformats.org/officeDocument/2006/relationships" id="267" r:id="R501ded3f2e164b2a"/>
    <p:sldId xmlns:r="http://schemas.openxmlformats.org/officeDocument/2006/relationships" id="268" r:id="Rc6e77c81f1de4e3c"/>
    <p:sldId xmlns:r="http://schemas.openxmlformats.org/officeDocument/2006/relationships" id="269" r:id="R6636dc6667e24786"/>
    <p:sldId xmlns:r="http://schemas.openxmlformats.org/officeDocument/2006/relationships" id="270" r:id="Rb3df4c4098fc447f"/>
    <p:sldId xmlns:r="http://schemas.openxmlformats.org/officeDocument/2006/relationships" id="271" r:id="R9e052740ecc8477a"/>
    <p:sldId xmlns:r="http://schemas.openxmlformats.org/officeDocument/2006/relationships" id="272" r:id="R4aa381d7a5cc4b7b"/>
    <p:sldId xmlns:r="http://schemas.openxmlformats.org/officeDocument/2006/relationships" id="273" r:id="R20938ee9a15e4a65"/>
    <p:sldId xmlns:r="http://schemas.openxmlformats.org/officeDocument/2006/relationships" id="274" r:id="R0a13b73e43c141a9"/>
    <p:sldId xmlns:r="http://schemas.openxmlformats.org/officeDocument/2006/relationships" id="275" r:id="R9277619d28db426f"/>
    <p:sldId xmlns:r="http://schemas.openxmlformats.org/officeDocument/2006/relationships" id="276" r:id="R996ffa4397f64613"/>
    <p:sldId xmlns:r="http://schemas.openxmlformats.org/officeDocument/2006/relationships" id="277" r:id="R414e9cede5ca41f8"/>
    <p:sldId xmlns:r="http://schemas.openxmlformats.org/officeDocument/2006/relationships" id="278" r:id="R1eefe9fffd2442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c7034caedb4692" /><Relationship Type="http://schemas.openxmlformats.org/officeDocument/2006/relationships/slideMaster" Target="/ppt/slideMasters/slideMaster1.xml" Id="R7bb01a19891d4cf0" /><Relationship Type="http://schemas.openxmlformats.org/officeDocument/2006/relationships/notesMaster" Target="/ppt/notesMasters/notesMaster1.xml" Id="R4f4f0658b5e443b7" /><Relationship Type="http://schemas.openxmlformats.org/officeDocument/2006/relationships/presProps" Target="/ppt/presProps.xml" Id="Ra991e21749d841b9" /><Relationship Type="http://schemas.openxmlformats.org/officeDocument/2006/relationships/viewProps" Target="/ppt/viewProps.xml" Id="R82aa4169dcef45e0" /><Relationship Type="http://schemas.openxmlformats.org/officeDocument/2006/relationships/tableStyles" Target="/ppt/tableStyles.xml" Id="R0779b6715f2b4ba5" /><Relationship Type="http://schemas.openxmlformats.org/officeDocument/2006/relationships/slide" Target="/ppt/slides/slide1.xml" Id="R50d3627ecf2d494c" /><Relationship Type="http://schemas.openxmlformats.org/officeDocument/2006/relationships/slide" Target="/ppt/slides/slide2.xml" Id="R0cac998cc2764610" /><Relationship Type="http://schemas.openxmlformats.org/officeDocument/2006/relationships/slide" Target="/ppt/slides/slide3.xml" Id="R7738c545efb745b0" /><Relationship Type="http://schemas.openxmlformats.org/officeDocument/2006/relationships/slide" Target="/ppt/slides/slide4.xml" Id="R57bd4b4f50c842bc" /><Relationship Type="http://schemas.openxmlformats.org/officeDocument/2006/relationships/slide" Target="/ppt/slides/slide5.xml" Id="Re33ef02fd1764a8d" /><Relationship Type="http://schemas.openxmlformats.org/officeDocument/2006/relationships/slide" Target="/ppt/slides/slide6.xml" Id="Ra9fd305398ef4611" /><Relationship Type="http://schemas.openxmlformats.org/officeDocument/2006/relationships/slide" Target="/ppt/slides/slide7.xml" Id="R91328d930c724b83" /><Relationship Type="http://schemas.openxmlformats.org/officeDocument/2006/relationships/slide" Target="/ppt/slides/slide8.xml" Id="R6a4078b161214bb3" /><Relationship Type="http://schemas.openxmlformats.org/officeDocument/2006/relationships/slide" Target="/ppt/slides/slide9.xml" Id="Rf00b0c0174094eb9" /><Relationship Type="http://schemas.openxmlformats.org/officeDocument/2006/relationships/slide" Target="/ppt/slides/slide10.xml" Id="R1f0922e16dbf41a4" /><Relationship Type="http://schemas.openxmlformats.org/officeDocument/2006/relationships/slide" Target="/ppt/slides/slide11.xml" Id="Red25ba6f62194967" /><Relationship Type="http://schemas.openxmlformats.org/officeDocument/2006/relationships/slide" Target="/ppt/slides/slide12.xml" Id="R501ded3f2e164b2a" /><Relationship Type="http://schemas.openxmlformats.org/officeDocument/2006/relationships/slide" Target="/ppt/slides/slide13.xml" Id="Rc6e77c81f1de4e3c" /><Relationship Type="http://schemas.openxmlformats.org/officeDocument/2006/relationships/slide" Target="/ppt/slides/slide14.xml" Id="R6636dc6667e24786" /><Relationship Type="http://schemas.openxmlformats.org/officeDocument/2006/relationships/slide" Target="/ppt/slides/slide15.xml" Id="Rb3df4c4098fc447f" /><Relationship Type="http://schemas.openxmlformats.org/officeDocument/2006/relationships/slide" Target="/ppt/slides/slide16.xml" Id="R9e052740ecc8477a" /><Relationship Type="http://schemas.openxmlformats.org/officeDocument/2006/relationships/slide" Target="/ppt/slides/slide17.xml" Id="R4aa381d7a5cc4b7b" /><Relationship Type="http://schemas.openxmlformats.org/officeDocument/2006/relationships/slide" Target="/ppt/slides/slide18.xml" Id="R20938ee9a15e4a65" /><Relationship Type="http://schemas.openxmlformats.org/officeDocument/2006/relationships/slide" Target="/ppt/slides/slide19.xml" Id="R0a13b73e43c141a9" /><Relationship Type="http://schemas.openxmlformats.org/officeDocument/2006/relationships/slide" Target="/ppt/slides/slide20.xml" Id="R9277619d28db426f" /><Relationship Type="http://schemas.openxmlformats.org/officeDocument/2006/relationships/slide" Target="/ppt/slides/slide21.xml" Id="R996ffa4397f64613" /><Relationship Type="http://schemas.openxmlformats.org/officeDocument/2006/relationships/slide" Target="/ppt/slides/slide22.xml" Id="R414e9cede5ca41f8" /><Relationship Type="http://schemas.openxmlformats.org/officeDocument/2006/relationships/slide" Target="/ppt/slides/slide23.xml" Id="R1eefe9fffd24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0da505252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6c902c592499a" /><Relationship Type="http://schemas.openxmlformats.org/officeDocument/2006/relationships/notesMaster" Target="/ppt/notesMasters/notesMaster1.xml" Id="Redac780dc0aa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9800b554504ef0" /><Relationship Type="http://schemas.openxmlformats.org/officeDocument/2006/relationships/notesMaster" Target="/ppt/notesMasters/notesMaster1.xml" Id="R1d6ef74d39d3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a0de53d504e03" /><Relationship Type="http://schemas.openxmlformats.org/officeDocument/2006/relationships/notesMaster" Target="/ppt/notesMasters/notesMaster1.xml" Id="R2473583dcc05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c07a3e314643fd" /><Relationship Type="http://schemas.openxmlformats.org/officeDocument/2006/relationships/notesMaster" Target="/ppt/notesMasters/notesMaster1.xml" Id="R77927326703843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922be84dd49e8" /><Relationship Type="http://schemas.openxmlformats.org/officeDocument/2006/relationships/notesMaster" Target="/ppt/notesMasters/notesMaster1.xml" Id="Rd35c1c0f3994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8a39e95b0740ac" /><Relationship Type="http://schemas.openxmlformats.org/officeDocument/2006/relationships/notesMaster" Target="/ppt/notesMasters/notesMaster1.xml" Id="Rad5ecac1919d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fb2a17a644fef" /><Relationship Type="http://schemas.openxmlformats.org/officeDocument/2006/relationships/notesMaster" Target="/ppt/notesMasters/notesMaster1.xml" Id="R388ddb1c8aed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cbb066a5794cd2" /><Relationship Type="http://schemas.openxmlformats.org/officeDocument/2006/relationships/notesMaster" Target="/ppt/notesMasters/notesMaster1.xml" Id="Re4f7f1fa4cc4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713be64873404f" /><Relationship Type="http://schemas.openxmlformats.org/officeDocument/2006/relationships/notesMaster" Target="/ppt/notesMasters/notesMaster1.xml" Id="R502c35da1682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f78cfc505b46d1" /><Relationship Type="http://schemas.openxmlformats.org/officeDocument/2006/relationships/notesMaster" Target="/ppt/notesMasters/notesMaster1.xml" Id="R16a9054df26245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49780cb1dc498e" /><Relationship Type="http://schemas.openxmlformats.org/officeDocument/2006/relationships/notesMaster" Target="/ppt/notesMasters/notesMaster1.xml" Id="R0b2dfaf323bd4c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7ed5b0185f41eb" /><Relationship Type="http://schemas.openxmlformats.org/officeDocument/2006/relationships/notesMaster" Target="/ppt/notesMasters/notesMaster1.xml" Id="Rcbe5d021a49a49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6f007891914c37" /><Relationship Type="http://schemas.openxmlformats.org/officeDocument/2006/relationships/notesMaster" Target="/ppt/notesMasters/notesMaster1.xml" Id="R2c6fd52a499247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6753dcd12648a5" /><Relationship Type="http://schemas.openxmlformats.org/officeDocument/2006/relationships/notesMaster" Target="/ppt/notesMasters/notesMaster1.xml" Id="R2137b522f1a244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9c430f0bcd4fde" /><Relationship Type="http://schemas.openxmlformats.org/officeDocument/2006/relationships/notesMaster" Target="/ppt/notesMasters/notesMaster1.xml" Id="R7ba2794446bc4d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1a664d734c42d7" /><Relationship Type="http://schemas.openxmlformats.org/officeDocument/2006/relationships/notesMaster" Target="/ppt/notesMasters/notesMaster1.xml" Id="Rda743861524f4e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59b1bf069b433e" /><Relationship Type="http://schemas.openxmlformats.org/officeDocument/2006/relationships/notesMaster" Target="/ppt/notesMasters/notesMaster1.xml" Id="R5e5801b2404d49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10b4b769d145c0" /><Relationship Type="http://schemas.openxmlformats.org/officeDocument/2006/relationships/notesMaster" Target="/ppt/notesMasters/notesMaster1.xml" Id="R89b0984ad2d047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35de75d17d43ff" /><Relationship Type="http://schemas.openxmlformats.org/officeDocument/2006/relationships/notesMaster" Target="/ppt/notesMasters/notesMaster1.xml" Id="Re34109af95cb4e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199c8363f341ef" /><Relationship Type="http://schemas.openxmlformats.org/officeDocument/2006/relationships/notesMaster" Target="/ppt/notesMasters/notesMaster1.xml" Id="R4b89f3f03f604d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4c5e7676724964" /><Relationship Type="http://schemas.openxmlformats.org/officeDocument/2006/relationships/notesMaster" Target="/ppt/notesMasters/notesMaster1.xml" Id="Rb9ee6e457b0443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589a4441b34a43" /><Relationship Type="http://schemas.openxmlformats.org/officeDocument/2006/relationships/notesMaster" Target="/ppt/notesMasters/notesMaster1.xml" Id="R20783bf0547848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a5166ab0dea4e58" /><Relationship Type="http://schemas.openxmlformats.org/officeDocument/2006/relationships/notesMaster" Target="/ppt/notesMasters/notesMaster1.xml" Id="R7fcf26075e64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7cd68bb8e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e4cab6d5e040cf" /><Relationship Type="http://schemas.openxmlformats.org/officeDocument/2006/relationships/slideLayout" Target="/ppt/slideLayouts/slideLayout1.xml" Id="R286043c7860a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6043c7860a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0dbf35ddc41b6" /><Relationship Type="http://schemas.openxmlformats.org/officeDocument/2006/relationships/notesSlide" Target="/ppt/notesSlides/notesSlide1.xml" Id="R3d46f35b2dad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7174b32d94f81" /><Relationship Type="http://schemas.openxmlformats.org/officeDocument/2006/relationships/notesSlide" Target="/ppt/notesSlides/notesSlide2.xml" Id="Raa6e44874ac1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96ab31bd64224" /><Relationship Type="http://schemas.openxmlformats.org/officeDocument/2006/relationships/notesSlide" Target="/ppt/notesSlides/notesSlide3.xml" Id="R37816132736d4a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de3c344484e85" /><Relationship Type="http://schemas.openxmlformats.org/officeDocument/2006/relationships/notesSlide" Target="/ppt/notesSlides/notesSlide4.xml" Id="R773b527055f149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289190c84cd2" /><Relationship Type="http://schemas.openxmlformats.org/officeDocument/2006/relationships/notesSlide" Target="/ppt/notesSlides/notesSlide5.xml" Id="R20f8cd8d5c38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abf92907d44f5" /><Relationship Type="http://schemas.openxmlformats.org/officeDocument/2006/relationships/notesSlide" Target="/ppt/notesSlides/notesSlide6.xml" Id="Rf304f069286049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4529a420f4600" /><Relationship Type="http://schemas.openxmlformats.org/officeDocument/2006/relationships/notesSlide" Target="/ppt/notesSlides/notesSlide7.xml" Id="Re6301d36636a4d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da47392ad43a8" /><Relationship Type="http://schemas.openxmlformats.org/officeDocument/2006/relationships/notesSlide" Target="/ppt/notesSlides/notesSlide8.xml" Id="R364e92af3e9941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20ea204bd4202" /><Relationship Type="http://schemas.openxmlformats.org/officeDocument/2006/relationships/notesSlide" Target="/ppt/notesSlides/notesSlide9.xml" Id="Rcdb18f34f39644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1d73f0f5644e4" /><Relationship Type="http://schemas.openxmlformats.org/officeDocument/2006/relationships/notesSlide" Target="/ppt/notesSlides/notesSlide10.xml" Id="R183ada7b292a4a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49a3c0554b18" /><Relationship Type="http://schemas.openxmlformats.org/officeDocument/2006/relationships/notesSlide" Target="/ppt/notesSlides/notesSlide11.xml" Id="R51389b094fa74e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7885abb4a4e99" /><Relationship Type="http://schemas.openxmlformats.org/officeDocument/2006/relationships/notesSlide" Target="/ppt/notesSlides/notesSlide12.xml" Id="R61d874c8583f40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1d9f9b404acf" /><Relationship Type="http://schemas.openxmlformats.org/officeDocument/2006/relationships/notesSlide" Target="/ppt/notesSlides/notesSlide13.xml" Id="Rf96a84cf782840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f513c05cb4dd1" /><Relationship Type="http://schemas.openxmlformats.org/officeDocument/2006/relationships/notesSlide" Target="/ppt/notesSlides/notesSlide14.xml" Id="Rf62ac807cf754c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be97d05604bc3" /><Relationship Type="http://schemas.openxmlformats.org/officeDocument/2006/relationships/notesSlide" Target="/ppt/notesSlides/notesSlide15.xml" Id="Rbceadf90bbfe49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0470000541b4" /><Relationship Type="http://schemas.openxmlformats.org/officeDocument/2006/relationships/notesSlide" Target="/ppt/notesSlides/notesSlide16.xml" Id="R536f527ea9bc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3fbbae6fc4392" /><Relationship Type="http://schemas.openxmlformats.org/officeDocument/2006/relationships/notesSlide" Target="/ppt/notesSlides/notesSlide17.xml" Id="Rdd61c92d189d40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94c6a47794d0e" /><Relationship Type="http://schemas.openxmlformats.org/officeDocument/2006/relationships/notesSlide" Target="/ppt/notesSlides/notesSlide18.xml" Id="Rd932fb9fec3f4b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28bce36f44b0a" /><Relationship Type="http://schemas.openxmlformats.org/officeDocument/2006/relationships/notesSlide" Target="/ppt/notesSlides/notesSlide19.xml" Id="R83f10b9b2c3d48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f2028ecbe42ce" /><Relationship Type="http://schemas.openxmlformats.org/officeDocument/2006/relationships/notesSlide" Target="/ppt/notesSlides/notesSlide20.xml" Id="R203cc75298e047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0693db53742ac" /><Relationship Type="http://schemas.openxmlformats.org/officeDocument/2006/relationships/notesSlide" Target="/ppt/notesSlides/notesSlide21.xml" Id="R6a5c606b6f2646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f0cb204c461f" /><Relationship Type="http://schemas.openxmlformats.org/officeDocument/2006/relationships/notesSlide" Target="/ppt/notesSlides/notesSlide22.xml" Id="Re84ff898fb8c41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68a1d01364019" /><Relationship Type="http://schemas.openxmlformats.org/officeDocument/2006/relationships/notesSlide" Target="/ppt/notesSlides/notesSlide23.xml" Id="R9b88a0cf442a4b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E84A2-663B-4715-BCCF-329E9C8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4238-DA0D-4C6C-80CA-B742BE0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1883-FCB1-4B51-AFED-71ECEC3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41508-0D88-4192-ABAD-59043C4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1E954980-24EE-4901-A781-E99BC14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B34D307-9191-4C3E-8A8B-9492429B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COMPONENT SIZING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63D52-A1E0-437A-9F05-45237E4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04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eVTOLと電動航空機の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主要コンポーネント必要スペック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CFEEF-79A7-4698-810D-9D0787C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前提・設計マージン・2026/2030/2035ロードマップ・技術革新の棚卸し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DC3E-BC3F-441F-A8EB-D86B597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239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8A23A"/>
                </a:solidFill>
                <a:latin typeface="Aptos Display"/>
                <a:ea typeface="Aptos Display"/>
                <a:cs typeface="Aptos Display"/>
              </a:rPr>
              <a:t>347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910D6-09C7-4A7C-9F2E-C840A13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5席級eVTOLの必要公称電池容量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0F35-353B-458E-AF29-646D255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2C8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C879"/>
                </a:solidFill>
                <a:latin typeface="Aptos Display"/>
                <a:ea typeface="Aptos Display"/>
                <a:cs typeface="Aptos Display"/>
              </a:rPr>
              <a:t>874 kW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37D7A-15BE-4493-B7A5-B7F2DB3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同ピーク電池出力。熱と配電を支配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0DC6B-D356-4BC2-A218-98E895F9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BC0B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BC0BE"/>
                </a:solidFill>
                <a:latin typeface="Aptos Display"/>
                <a:ea typeface="Aptos Display"/>
                <a:cs typeface="Aptos Display"/>
              </a:rPr>
              <a:t>223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57350-2940-4BED-BDFC-AAAA053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4席級電動固定翼の必要公称電池容量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CEC24-E88E-4B2E-9BD4-857980E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A5E2D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A5E2DE"/>
                </a:solidFill>
                <a:latin typeface="Aptos Display"/>
                <a:ea typeface="Aptos Display"/>
                <a:cs typeface="Aptos Display"/>
              </a:rPr>
              <a:t>2035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49DC4-27B9-4DE8-AF0A-14AE720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商用スケールに必要な部品性能の到達目標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148DF-C49A-4446-9DE5-A6F5683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結論: eVTOLは出力・熱・冗長性、電動固定翼は比エネルギー・巡航効率が主制約。どちらも電池だけでなく高電圧配電、BMS、熱管理まで航空機部品として設計する必要がある。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94EF3-80E8-4491-9127-E6F68D40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EAP; CAAC CCAR-23; EU ReFuelEU; ICAO LTAG; repository research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3FF87-937B-4666-8B65-3636CF4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822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54B75-AAC5-40F8-86AC-49EC231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5B8DD11-CC75-4E26-8AFD-1F9CF895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21481DB-6AB4-42AF-BF23-A5E789C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ASSUMPTION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38457-84AE-4221-8526-403EA33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計算は保守的な予備・劣化・故障マージンを先に入れる。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11976-957C-4861-8057-1D954798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実運航では「飛べる」より「毎日同じ余裕で dispatch できる」ことが部品仕様を決める。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A08F-8CFF-43CA-AA7C-8991927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498-6365-4112-9024-EEE1106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352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A23A">
              <a:alpha val="13333"/>
            </a:srgbClr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40C2C-3345-475F-A198-EA13F26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eVTOL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CF302-EB8E-480F-AA12-3382664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5席級 lift+cruise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57B3A-0F32-4C24-B608-1E8E6E6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MTOW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DCE98-3474-4B03-BD8E-C9E4916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2,500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07094-5169-495B-9664-ED98EFE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ミッション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7D25-E2B1-4393-A822-F844CF2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40 km + 15分予備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FB8AD-D965-4DB8-B5EC-0A02D338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SOC使用幅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62DE9-B5B5-4B87-BE30-5047EE67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2CD15-FC68-4D61-9770-BE77F86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EOL容量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4717-E019-43D7-999B-5FE2996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33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612FA-F4DA-412B-8719-B13E1DA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ピーク余裕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5F6AD-9C68-41A5-8EA8-5E03A22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C37D6-5633-4214-B7A5-949900F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故障余裕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FED51-DD3B-4BF2-8E1E-DE03469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9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 lift motor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071A6-A8FD-401E-BEC9-856AFC4E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AB5AB-29BF-4285-AD0D-76472ED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38375"/>
            <a:ext cx="1352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BC0BE">
              <a:alpha val="13333"/>
            </a:srgbClr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25CFA-3B31-4D47-80C8-90337E8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電動固定翼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0D5E0-9819-4E05-8F2A-312DDD6A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4席級 eCTOL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2F77D-1804-4067-A82A-18AA06E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MTOW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F3EE80-4D40-49A8-91B0-5E853DDB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1,260 kg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38902-DE22-41BA-9C70-CB31BBB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ミッション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1AECE-936F-4460-8B63-D359176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250 km + 30分予備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E71A3-3638-423C-BC2A-BBEAB60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SOC使用幅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35F77-66E4-48F1-9C2B-7EDF63F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4F6ECD-9270-4A8A-9BEA-E1712BA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EOL容量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7418A-AB98-4924-AE7F-5EBF5AA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A5EEB9-1244-482F-9360-088FD89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ピーク余裕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53C9F-823E-427A-BCC8-095522B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412E51-1E20-4FDC-84D9-DF6865F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故障余裕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FD743-3CAD-4CC7-9DDE-4C794B2E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復行・予備込み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8F453-3C14-468C-BB0B-E1A3541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注: 数値は代表機の概念設計。機体メーカーの認証値ではない。空力、航路、気象、予備規則、騒音制約で変わる。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FF62E6-7252-4799-8C8D-CCA45321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repository calculations based on NASA/CAAC component benchmarks.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1D8DCA-FDE1-4B8A-93DE-BFEA121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9464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B5615-ACE2-4566-8EE0-8B4AD5A1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CB7A841-77DC-4693-A49A-E5D6A73B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439E4B4-74B8-486A-A56E-8C7F76EB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SIZING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81EE-E8BA-482A-82DB-2964901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eVTOLは揚力を電力で作り、固定翼は抗力だけを電力で払う。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3703E-12E5-42BB-B270-33817D8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eVTOL: hover dominates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9A20-4F7B-464B-A9C0-5E696D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FB577-4882-4E89-885E-CD2B6337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9E415-4ACE-4B4D-8D23-7EC5702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2C879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2C879"/>
                </a:solidFill>
                <a:latin typeface="Aptos Mono"/>
                <a:ea typeface="Aptos Mono"/>
                <a:cs typeface="Aptos Mono"/>
              </a:rPr>
              <a:t>P_ideal = W × sqrt((W/A)/(2ρ))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1F49-B5AA-4C61-A5E3-08B5906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総ロータ円盤面積 A が小さいほど円盤荷重が上がり、ホバー出力が急増する。重量増は電池重量をさらに増やす。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7803A-80F1-4231-8CD5-BACBC72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eCTOL: drag dominates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5DF4-626D-422C-89F1-6BB6C67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0B227-4364-49FA-A51E-2517357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B7D7-514D-4EF9-87EA-DE4CE00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5E2D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5E2DE"/>
                </a:solidFill>
                <a:latin typeface="Aptos Mono"/>
                <a:ea typeface="Aptos Mono"/>
                <a:cs typeface="Aptos Mono"/>
              </a:rPr>
              <a:t>P_shaft = D × V / η_prop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27110-8AD5-4C65-B324-278E4ED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翼が重量を支えるため、巡航では抗力 D に打ち勝つ出力が支配。高揚抗比と低抵抗設計が航続を伸ばす。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99488-C730-4FC5-8D7F-5CA6667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8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32D6A-7899-4024-AA97-607149E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共通式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2C81B-0678-4F5C-AAA9-5928EE9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DAE64-559C-4B97-A3D8-F54CFA3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24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P_batt = P_shaft / (η_motor η_inv η_dist)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9DA4E-3B3C-466B-B8CE-7A398A7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58D64-E3E8-422C-989C-DF3EF0B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E_nameplate = E_req / (SOC_use × EOL)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C1658-C2BF-4867-BE8A-128B5FD7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eVTOL white paper; standard rotor momentum and fixed-wing drag equations.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EF3A3-73FE-4331-A511-DD6C5FF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5863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79089-5A1E-4105-97EE-DCBCD47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B36DB57-1496-42A0-AD99-27D2102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ABEF11B-E09D-4CED-8339-9E7178C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CALCULATED SIZING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5EED2-3FFB-4747-8B7F-EBC8CC58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設計マージン込みでは、eVTOLは874kW、固定翼は223kWhが最初の設計制約になる。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3A870-9BFF-438A-BABE-5E4E75C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86E4-7CEB-4975-B87E-0E13A3D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772A-C4E0-470C-986D-887729E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9526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F5C61-8CDD-40D0-803C-6885165C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097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5席級 eVTOL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0E408-840F-43FF-8EB4-4A994C8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34DB3-7C8D-48B1-902B-FAD037BB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4席級 電動固定翼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BA1AE-13B1-4875-8D44-16A18C84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A9071-1F63-4DB7-B8C3-ED94BBB4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977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設計上の意味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F9CB9-F563-4A57-9E19-EC69E03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327B7-E662-4E0D-86DF-141CB10A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必要実エネルギー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3C770-AB52-421C-AC8B-AA1BD471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003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DAD24-AB12-407B-9D1E-90F6367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574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194 kWh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165CC-282A-45B0-A701-8895BEB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D9380-9049-4668-9F76-3B68694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134 kWh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9622-B9AD-48A4-9CD7-DD5F7DEA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04B3C-AF3F-4C2E-A5E1-E8324951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5745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予備込みの実消費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6FF01-722E-458A-B17A-51D6F68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194AF-D03E-4673-8E41-26CB0F2B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公称電池容量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947CB-392A-4BDF-BAF3-0DA039C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479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CFEF4-D248-42E1-A005-49D5F6E9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051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347 kWh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6DD35-E03A-4A50-A2D2-CD1FA2C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479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1927B-E123-4247-845A-AC0A044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223 kWh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B962B-80FA-44EB-9AE1-7F16258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4797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27427-9BA5-408A-A0E9-4B8CBF6A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SOC/EOLを戻し込んだ容量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E7D2A-35CB-4648-A7E1-2279151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A6FF0-6F3D-421B-9C4C-4C8E3E7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ピーク電池出力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D7391-AC77-4930-9E50-E5C371A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956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7AE344-A975-4DF4-B5EC-97D35DD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528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 kW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028E8-7BCA-45BC-B2BD-6BBED8C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9D3285-82ED-4E3B-8BC9-A84F6C9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 kW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01397-7E43-4D3D-961A-4BA3AC9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9565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0A07D-87C2-4672-91F8-6E043D0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5280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出力系・配電系の定格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67720D-D8FB-4F1B-8675-0CDA273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F2C19E-1046-4EA9-8983-23F45B4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巡航/ホバー電力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397C9-4825-44C2-B1BB-C38C862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433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EC41F3-A600-4394-81A5-AD1577E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004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542 kW hover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580664-8B03-4F4F-AB57-7956140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5E6FAA-9E9B-4669-A776-AEF4FE8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004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 kW cruise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3D4393-9635-4562-BEB4-C8A540DE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4332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186D0-58F1-4D80-A8E8-5BBD9BB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0047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熱平衡の基準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AD6756-FFB4-4EC8-B10E-F315E87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389550-9F55-4475-A861-ADA5EB6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目標電池質量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76D91A-32BC-4E8B-8A33-8B1FD21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910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CC1AB9-6EDF-4D1C-8F05-7B8CA1C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481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650 kg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50BC89-A6AF-45AE-BE7A-7BA08F7D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F7119B-CD81-4E02-AFE3-194DAFC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450 kg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728F21-DC2E-4B6A-955B-1CD8969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9100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F9D857-D1B3-4BC3-B603-A0DD019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4815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機体重量成立の仮置き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B052EE-F2B5-4F0E-B20A-E562BB3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D708E6-17BA-4F9A-9EA9-CD74BB5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必要パック比エネルギー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7A1DC4-42CF-41E8-9007-CC2B4D7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386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871858-8897-4C32-906E-73691E6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958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534 Wh/kg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7A8AF6-5736-4C3C-8E61-B3E06212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386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66AC94-CD3E-4076-98D8-F3ABFB9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497 Wh/kg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52C3EF-45BB-4908-A6DD-CF6E2A2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3867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876404-0DA4-4C5A-A41E-1FD6E46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9582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2035級の目標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33D229-FC4D-4A06-91CC-A9A1CDC4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44991F-4C61-4200-944B-A9AB6FB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高電圧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CBD0DF-4F8D-4BFA-9210-ECA1652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0863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4E4AA-01C5-4181-9860-F479A9D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435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1,000 V split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354F56-E2B4-4530-A3E2-2ADFDB7A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863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86C05D-A798-42D5-87DE-7DD6AFAB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800 V main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9F1B62-995A-482D-91B3-1DB7890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8635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9C2162-B996-45DD-8155-A57D55B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4350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電流・銅重量の抑制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4DCEE2-7BE1-4FD0-9D10-EDB674D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読み方: これは「現状機がこの容量を積む」という意味ではない。保守的な商用ミッションを成立させるには、現行ミッション短縮、電池質量増、または2030/2035年技術への依存が必要という意味。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63F0DF-D1B1-4197-AE63-71D5870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repository sizing model; NASA/CAAC benchmarks.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435D5D-9CCE-46E0-BCA1-C3FF5C1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1692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6CB89-898F-4FC0-90A8-16D20C3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E31FD3F-EB95-4953-9A55-A2EC54AA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43C0261-8F4A-4B0B-ACA1-83C2CA5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BATTERY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425AB-087F-4E7C-AC03-3BDC397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2026年の電池では、予備込み商用ミッションの質量がまだ重すぎる。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60416-B7D2-46C1-A870-551DBDC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必要公称容量を各年の想定パック比エネルギーで割った電池質量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BEEE-169A-4C7E-9D2B-21044F6E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C37E2-32DE-4710-8CB0-7969E92F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6AC3E-9480-482C-89FB-90A39F1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523017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B914F-727B-4FA5-A4E4-7E3B419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300Wh/kg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5BCC5-8929-47F5-890C-9B48243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1156 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37AB0-88D1-44B2-8A58-C71BE75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94EB9-5172-4FE7-9DCE-97A0D834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31580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262B-DE0A-4FBD-B712-85B74BE6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320Wh/kg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0AF55-8336-40D8-8C11-E994E74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698 kg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C37EA-A2C1-4A3D-84EB-A5695E9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1E728-BB0F-4313-B2AB-4002B01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E029E-F8DE-480A-B736-E360493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392263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F504C-31DC-48B4-AEA0-E1397C7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400Wh/kg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B490-871E-415D-BFDE-22412FC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867 kg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38EF8-2850-4ACF-8267-947C83ED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BC77A-2C22-4845-8040-517D1732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22486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50739-9EFD-4758-9FD2-A53F2D2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450Wh/kg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82C77-46CB-4509-957C-75BF8D8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497 kg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CF678-C3B6-4CC1-B252-659E1B80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448E0-E5B2-45A7-8420-956601A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78B67-7812-4144-9528-423173B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285488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7F863-D905-4EFA-AC62-DEAC5AB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550Wh/kg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A6958-2B2A-445C-90EE-D9893A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631 kg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92810-D754-41FF-8687-BD06492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3AF5F-BDF5-41DF-9751-7517F90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183689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5A2FD-54B8-413B-A554-C6C8C3D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550Wh/kg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666E7-1F51-4C6B-944F-EDD97139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406 kg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6B7BB-8F43-4C16-9B1E-683350F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44BD3-3617-46E5-93CE-DE8E1D4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設計解釈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E9761-E190-4A91-ACDE-94332BD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2026年は短距離・制限付き運航が中心。2030年に固定翼が商用余裕へ近づき、2035年にeVTOLも650kg級パックで代表ミッションを満たす。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267CD-33A5-4547-9F07-83DD22C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目標質量: eVTOL 650kg / eCTOL 450kg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5B5267-B2C0-4C70-B35E-BB764663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roadmap assumptions; 低空航空器動力電池技術路線図 2025; NASA battery context.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3757C-3F1E-4BF1-B912-024F2B93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89334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7C932-D2FA-4E6E-857A-196CD0A6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03F9DDE-8D4B-491D-A849-2812267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41BED-51F6-442E-AFAA-D7AE447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POWER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9666-C614-43BB-91AF-86AB6E0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eVTOLの電力系は、ピークkWよりも熱・遮断・片系統故障で決まる。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F5759-2CF4-42BF-8731-63AD650F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C6362-F46A-4AF7-B3FE-03C7BCF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Battery packs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347 kWh / 874 kW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62C01-DFE6-45E6-B0A5-6003B4B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0928-FC7E-496B-97AF-E08E624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4269-6740-4C25-ABC2-812AF24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9CC4D-310E-4E1C-81D5-9DB4293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HV buses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2分割 1,000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70C7F-EB22-4324-80B9-D8945480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A31F5-1976-4B2C-997B-761756C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8100-F3D4-41CC-8A8B-2D0CA7A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A4C14-18D8-4D91-9707-10636E0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Inverters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8×125 kW級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28F5C-6176-48C1-B3E9-A9B40B2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5C4FF-7299-41EC-9B57-B728AF0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F6468-9859-4E9B-A65A-3C050AB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A5E2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30862-1AE3-40D7-A8E2-C088E660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Motors/rotors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8×120 kW peak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9ACEF-74A5-4865-8B55-D9A6291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BC8F-5426-4B8E-AEBD-2AAD810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AD10-AB30-479D-8C4F-1DDEBEB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15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D3D8B-C26C-46EF-888B-7ABE75E8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Thermal loops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約55 kW排熱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68489-AA56-4DA5-A680-8C595A3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4488B-1C4F-475A-8087-8627A85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電流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0F5F3-A67B-4EB4-A947-08C50B0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874kW / 1,000V ≒ 874A。2バス化で片側約437Aへ下げる。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27B6B-74BD-40CE-9731-7E9169E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4DE97-75C9-4ED9-AF3B-C71D286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EB176-5AA0-43D4-AFC0-EA24029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モータ・インバータ・配線損失でピーク時50kW超の排熱。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47244-FEF3-4A91-B379-5E008066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E5BB0-4EBB-4E7A-830C-9150E6C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故障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B445F-7D0A-423F-8438-5DBCF6FF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1基停止でも残存モータで安全着陸するため1基120kW級。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9C4BB-5C8D-4F86-99F8-EB55CF4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Electric Machines / Power Converters / EAP.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F0E13-CA71-4C68-9E9D-C5A204CE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315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F3897-02DF-446B-8D40-2E42F84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3A9D979-BC35-4963-9FCB-DC3C9DD3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D1DBB29-4594-4BC8-854C-A2DBA23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BMS AND HV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6060A-2FD3-447D-A05C-DB9CB80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電池システムは、推進源・安全装置・整備データ基盤を兼ねる。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649B-86C1-439B-B113-DA2EA564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D0E7D-FE6A-4F6E-9DDA-7C81F86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階層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63AD-3DE2-4F5B-AAF3-0D2A633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526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A1827-FC12-430A-855B-BB3D182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97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必須機能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3136-45FC-4340-9FB4-4E44395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526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4D60-2FFB-4D0F-8AB5-5F424F1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97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設計スペックの意味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BFFCC-A2D1-4E71-A7AA-9131550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1314C-7B3B-491B-BD89-CAF7780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セル/モジュール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D6C92-F7D4-45E2-AEBA-90E0FE5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050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AD283-7395-4E6F-B7EE-F387DEC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622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電圧・温度・内部抵抗・熱暴走予兆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52A37-013B-4AC8-83DC-461B04F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050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13530-C258-4F3B-9D74-6F77C901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622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SOP推定と非伝播設計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57B31-6765-419C-85AB-4320C7A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D1207-D4C9-4FEE-8831-15EC326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パック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E217D-81E9-4FF9-80BB-4103543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575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E44B5-4EA7-4455-B029-170A5D60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接触器、プリチャージ、ベント、交換ロック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99599-5824-4AF9-9B79-79FF294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575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CB492-3DC0-44C5-8A14-129BD71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146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高C放電と整備安全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3CDEE-59EB-4380-BE02-BADD31A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916E5-E0EF-4280-B21F-95D8025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64E57-2CD3-4767-8EC1-F787C06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99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99F6A-7920-40C8-8D71-8A84625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SOC/SOH/SOP、ログ、ディレーティング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FF220-F9DF-4CB1-863F-BD36068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099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1927E-FB97-4C14-AA2F-9A1299B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671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飛行制御へ出力制限を通知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5EB76-55D1-449C-83C5-978601AF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2F791-1E20-4D9B-AC2A-1151354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HV配電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63379-826F-4DAA-8478-CB41FB4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624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E7CECC-3E36-4584-939D-1AC85E8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95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絶縁監視、アーク検出、SSPC/ヒューズ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80DB5-16D7-4856-AC20-5449E126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1624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CB339-2DA7-45A7-AABD-2C4494B1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195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単一故障を区画内に閉じ込める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3A59BB-C94E-476D-8F67-58221EB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98D00F-F4E8-4C68-955E-9F59735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認証/整備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33120D-2CCA-4935-A085-A9130A1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148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59393-0D99-4D44-B26C-4C481CB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履歴、劣化モデル、ソフト更新管理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9E710-84BB-45DA-9C40-3AF81593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714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F413A-E94F-4F21-B9E1-5F726AC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720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継続耐空の証拠になる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FE60D-3F23-4306-9D4F-F754F0F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066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E7567D-0411-4CC1-B182-B0A56338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SOCだけでは不足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07BC0C-92F2-4009-A839-0ED67A1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800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温度・劣化・低SOC時に、必要出力を出せるかを示すSOPが重要。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9440BC-35D9-4DDA-B971-4124575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EASA SC-VTOL MOC; RTCA DO-311A; CAAC CCAR-23 H chapter.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DFD032-3F5F-4D6F-95CE-FD9F67D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8975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DB01C-420A-47B6-AD80-88AA1D85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DACF4B9-F33F-47FF-A482-86CD933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C74B811-EA82-4A8E-A993-BC18812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GROUND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DF66F-52A3-4871-A01B-5F405E0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充電設備は運航率を決めるため、機体部品と同じロードマップで見る。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474A3-DE8A-46D6-A8ED-E527A8C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5BB6B-4428-4FD4-9769-7850DBD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47974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11005-C90B-4DB2-9BFE-9FA9F379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15分で80%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E6A31-E2D9-4006-AA6B-29CA9812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40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1109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FFA62-8DF4-4E48-AA17-03321AE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8607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4B88-476B-42AF-9A68-8FE4CDE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86075"/>
            <a:ext cx="35991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9A277-413F-4838-A106-27892BF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20分で80%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69533-007D-43DB-98B0-BA0126E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670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832 kW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01AE-2689-429D-BDD5-022907A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29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CF4D0-95D7-461A-B7AA-5ECAB5C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29025"/>
            <a:ext cx="162655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EFF2F-A3B5-49C5-9F97-92DDD72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30分で80%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201EF-DC67-4B83-A911-B0BC8D15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99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376 kW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44DA0-9AAD-41E0-9103-A192704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EE0AB-4117-4387-BC1D-6F126B9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81327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2DD22-E53F-47E9-BBB7-5EA5A6A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814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60分で80%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A80F5-13F0-40DB-A409-C8697254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52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188 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D71EE-6BFC-4AE6-A073-4D9FCE3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計算式: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P_charger = E_nameplate × 0.8 / t / η_charge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34146-3FCB-401E-A02A-3D1739D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前提: η_charge = 95%。同時充電、冷却、系統契約、消防、SOH確認、ターンアラウンド動線が追加制約になる。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029B4-F832-49B1-9E03-EB7FA8A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1BFDE-17C3-41A9-900D-34B8EC0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2030以降の焦点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4DB3A-E743-4F41-BCD8-CD39998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181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MW級急速充電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パック予冷/予熱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自動交換設備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SOH診断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標準化消防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8EE8D-A5A4-470C-B275-5B11C14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sizing model; FAA AAM infrastructure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4FCE1-8CF9-4EEC-B0C6-5670618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03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0640F-5989-46AE-9504-83DD273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F32B538-E4EE-4F52-AF14-81D96EEC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6E9183D6-55AB-46AA-9225-B171052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EXTERNAL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A5BDC-0504-47F6-B0BA-B3D9814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社会・規制は、短距離電動化から高頻度・広域脱炭素へ段階的に圧力を強める。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6DAE3-0118-4B81-8153-912AC06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0D12-59A5-489B-B711-BBC26B57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1D0C3-C425-49D1-817E-C31358F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6A65-D9C7-4514-95D3-023010C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0328-4BA4-431F-AC8C-C1F59F9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DDA34-F89C-48FF-9ACC-126C99C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F882C-4712-49E8-ADF9-F9BA16A2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A55E0-B5BD-400B-AC53-2956630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A8061-0C19-443E-B541-D6786B5B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9D887-28FF-4D4D-9EFB-84E7D6B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ECAA6-DB4A-4747-8225-00DD411C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A5B1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5B12"/>
                </a:solidFill>
                <a:latin typeface="Aptos"/>
                <a:ea typeface="Aptos"/>
                <a:cs typeface="Aptos"/>
              </a:rPr>
              <a:t>制限付き商用・認証先行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4FB5-801C-4C2B-BC9B-DE3A748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CAAC/FAA/EASAで個別認証と初期運航。中国は低空経済の制度化が速い。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360E6-ABF7-4249-A550-986E3E5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8EB4C-A3A3-4C94-8589-A2AA573F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A5B1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5B12"/>
                </a:solidFill>
                <a:latin typeface="Aptos"/>
                <a:ea typeface="Aptos"/>
                <a:cs typeface="Aptos"/>
              </a:rPr>
              <a:t>AAM初期運航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9CDB0-8CDA-4C60-AF0B-96401D3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FAA Innovate28: 2028年までに1拠点以上で規模ある運航を目指す。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964A2-F6DE-4ABA-B3BA-E5EC2B8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0E2AC-ACCB-4E79-A06A-7471889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C68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6867"/>
                </a:solidFill>
                <a:latin typeface="Aptos"/>
                <a:ea typeface="Aptos"/>
                <a:cs typeface="Aptos"/>
              </a:rPr>
              <a:t>環境規制の加速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B32EE-DD01-4A9D-B24C-6807667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EU ReFuelEU: SAF 6%、合成燃料枠1.2%。電動/水素電気の比較価値が上がる。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C8C70-4DAD-46B1-A433-9D6F2AA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DB236-C901-469E-BF5B-CFCB79C0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C68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6867"/>
                </a:solidFill>
                <a:latin typeface="Aptos"/>
                <a:ea typeface="Aptos"/>
                <a:cs typeface="Aptos"/>
              </a:rPr>
              <a:t>短距離電動化の商用拡大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2E076-5C8B-47F9-BAB2-CC25FBF8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EU SAF 20%、合成5%。電動固定翼/ハイブリッド/水素電気が地域航空の選択肢へ。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7179A-DC76-42F8-AAF2-B46457BC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2050: ICAO LTAG net-zero、EU ReFuelEU SAF 70%。2035は電動化部品の商用成熟を問う中間関門。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49838-9AE4-4EA9-B588-C6BA6A9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EU Regulation 2023/2405; ICAO LTAG; FAA AAM Implementation Plan; CAAC low-altitude policy.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7791B-1739-41BB-B831-FB48592E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92413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E7C7A-0BB5-4FC6-8DC1-223420F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81C7B13-1105-4215-875D-D7E0C951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91298076-C2B6-4C79-B675-E029A68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COMPONENT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0DB38-AA03-41EB-967A-DB8FEDA6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2035年の市場拡大には、電池だけでなく電力変換・高電圧・熱管理の同時進化が必要。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C435-FD9E-45FE-B120-4FE0880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377BF-B8E4-4120-875B-DA631C2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領域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EF5F6-31D5-4539-A618-A3C4DF53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773F1-65B9-48C4-AC10-3A9C579B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1128C-E2EB-4F29-8490-5D7A9825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EBAB0-C32B-4D3C-8EA0-83520E2B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40D6E-66DA-4AE6-BE02-8715C2F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656D1-9A24-4E50-8BB9-3A129DE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15D92-D077-45D8-9B9D-851B398F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6DB2A-AC33-42E2-AF1A-9C1005B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電池パック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F6E04-8E6B-4748-AA97-8EAC6D2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B9541-7294-414B-8317-78C5CA4C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300 Wh/kg・4C/8C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D6361-B272-4A36-AD80-FF0D469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87BF3-8EA9-4DF0-9C46-77CEB021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400 Wh/kg・5C/10C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6767C-41D6-4B5C-A30A-BF123B3E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59099-0597-4270-9A4C-066FA333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550 Wh/kg・6C/12C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6C192-258C-4142-A9F5-F88687A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B9DE9-80E7-4A0B-93EC-A5C6F6E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モータ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FFE2D-EEB2-461F-A293-49CF3E6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BB5CA-D273-4F34-9DFC-53BEB28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8-10 kW/kg・96%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6F5A7-B1FB-4832-AAA4-DF5E340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8B223-EDD6-46A0-956B-150A2DBC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13-16 kW/kg・97%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E5A02-939A-40E3-AC62-5DE80C5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EB7A3-5BAE-44AC-A074-15578F66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18-25 kW/kg・98%級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318B8-C24F-4565-89E0-9E408D9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371B1-486A-41F2-9D74-699B33B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インバータ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F170A-A41F-4E80-9296-E6B3A0A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A2744-1204-4D89-B980-649A801A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10-15 kW/kg・99%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B082C-197A-4038-ACE3-6DF30849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681511-B240-4262-B30F-98E68E9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25-35 kW/kg・99.3%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F788D-2817-45EF-9CF5-75CE2286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92F7A-1154-4F92-A3D7-84CE828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40-60 kW/kg・99.5%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49C2CC-4454-48EA-A4C6-0C58CE98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4B28EF-DCE1-4740-94E4-EA3D5A3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高電圧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EA103-2590-4912-89AC-988BDAC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A751AD-7725-4A37-8182-338DDEB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800-1,000 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C765A-6A31-4082-9C60-630C970D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3A2E55-6AC4-400A-959C-52410AE8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1-2 kV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EE381C-3A89-41A4-A1D9-ED0763F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925FF5-DB2B-47C4-A095-29F050C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2-4 kV、部分放電管理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F66E4D-2BBF-49EA-86CE-BACA8ED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2E4E11-3308-4367-8C6E-642A80D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熱管理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7742E0-9F01-4DE1-BB3B-3954AD3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7D4527-BF0E-444D-BA9E-8BC33705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液冷・独立ループ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4427CC-9495-47B4-8618-54EE704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05A1FD-06E4-43E8-93D0-4A3FB10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統合熱管理・予兆制御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3CC05E-D7BB-4686-8EAD-2D10A928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C3FFFE-8583-48DA-A451-F2FD24C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相変化/浸漬/構造冷却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3C7E17-9F4F-4F38-B4A7-9E5B0BA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BDB994-D21E-4FE2-8DC5-B4F1FA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運航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DCC309-B318-4613-A8A0-187A685F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627256-0E19-4157-BCC8-C4065C7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制限付き商用・訓練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EFDFB8-25D1-47A8-8087-A3BD918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163D01-6A04-46CE-AB98-CC0FFE8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定期短距離・都市実装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E28592-26C3-4657-A131-22337A4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3D6C7B-6619-429E-AC74-76C2B1A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広域/高頻度・自動化拡大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4F7328-7463-4999-9581-73F2DA1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D1D8"/>
                </a:solidFill>
                <a:latin typeface="Aptos"/>
                <a:ea typeface="Aptos"/>
                <a:cs typeface="Aptos"/>
              </a:rPr>
              <a:t>解釈: 2026年は実証・制限付き商用、2030年は都市/短距離商用の成立、2035年は高頻度・広域用途の成立を想定したターゲット。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08F61D-FD43-434A-BDEB-D6CBF3C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EAP mid-2030s goals; 低空航空器動力電池技術路線図 2025; sizing assumptions.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00F05C-A01D-423D-BCA5-DC6220BE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14780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2D832-7F14-48CF-89F8-692A573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BAD8C594-F2CF-4BFD-8ED7-DA8E1C41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E2B9FD14-CE7D-4CE7-A29F-11B2E8A1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EVTOL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1F7D8-DCDE-4649-AE56-515EEB9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eVTOLは、短距離観光から定期都市路線へ進むほど電池・熱・冗長性が厳しくなる。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99A4-EF5A-47B0-A73E-E33981E1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9D12E-A126-4F69-A2E8-9BD5987A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3A669-3DB5-4923-BF61-195C5F4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成立しやすい用途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81414-91B7-4807-B190-6F9B59E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短距離観光、空港/景区、貨物・公共用途。運航制限と地上監視が前提。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E9F50-38E4-4D15-BB5B-196E581A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300Wh/kg, 4C/8C, 800-1000V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8F06D-9623-473A-94A7-0C778BA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9C140-8F0C-4B06-ABC1-0EFC9AD9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D7CF4-BD90-438A-8BB3-73E8987A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商用ネットワーク化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DE0D-B860-48B1-843F-F9F905F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都市内/都市近郊の定期短距離。充電・消防・予約・運航管理が統合。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70141-9EA3-4970-9DD1-E6B4136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400Wh/kg, 10C peak, 1-2kV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CA79C-DD9A-4095-B433-39B02A4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2F39-5786-49ED-9710-4DD7CFF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DFB77-BEA9-4CA1-8D33-F01C63C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高頻度・広域化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18584-3204-415C-A60D-115BC3C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複数都市での高稼働、遠隔監視/自動化拡大、保守予測が標準化。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5EA71-793F-421D-8ECF-85F7E59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550Wh/kg, 99.5% PE, 構造冷却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219DB-197C-492D-95D4-04D03BA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FAA AAM; CAAC low-altitude economy; sizing model.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BC770-F329-47EB-B030-0E987BB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63102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77098-5069-4DBA-BAC4-85C988D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CEFD7EE-FB0D-4196-A37F-64E4DDC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B66E9C84-6012-4F1F-8E8A-1813131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ELECTRIC FIXED-WING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789AE-34BB-4456-AD26-EBB51F4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電動固定翼は訓練・短距離から先行し、2035年は純電だけでなくハイブリッド/水素電気が本命化する。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1C221-2BF5-4894-A52C-1194735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B9FE-35EC-4867-A410-489505B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BA9E3-15D0-485A-AE99-038082E3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A71F8-643D-41FA-96AF-3E48FE4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574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成立しやすい市場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E01DE-F64C-482F-B971-5CE61AD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70B6C-7131-46DB-9EDA-D95F75D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主要制約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7A4A5-445C-4D2A-9E82-3739953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25194-5B45-4A03-B28D-ED7AD23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必要スペック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353F6-8C26-43D3-AA51-08A5436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CFB02-3F62-4AA5-BCF6-16FB5C0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3E828-22F0-4A68-9F63-EFA74CF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124F2-3EDD-4D41-9B73-52E48D9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2-4座訓練、体験飛行、水上観光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09197-026D-42F6-A032-27C92602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03789-E3F8-4F9F-9258-18D8D6E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予備込み航続と電池寿命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F3E24-9026-43DE-BF72-FA96545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C0AC5-15CB-46E0-9B2D-4403E23E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300-400Wh/kg, 2C/4C, 50-150kW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C2228-BD00-465F-9C4C-16DAC04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34CAE-B980-4FAF-B730-E12332B2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40431-54C7-4A7D-910F-84CF436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33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D946B-1FA9-4B9A-958E-77CD72A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909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短距離コミューター、島嶼/山岳ルート、巡視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C7BB6-1644-4897-A4B9-BA078E4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B6025-F0A6-400B-8C03-F7E351C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電池交換費と地上電力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323FA-9B6D-4B7D-B5AD-565E75A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62D59-EF18-433C-BC24-E2143EB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450Wh/kg, 800V-1.5kV, 300kW充電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72820-B7EF-4313-AFD9-A1401CD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8F929-5E0E-44F9-AEB0-7D41B96C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0F088-1E9A-404D-8D4D-0BFDF77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7F3FD-644D-48CD-B461-4130ACE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9-19席級の地域航空候補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B67AA-9CB8-4FE1-A193-78DC65C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51716-48C3-4DCD-9970-C591F0D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純電の航続限界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877C59-0330-4D2C-AFF7-EC18D92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08072-43D3-42A2-A3A0-9E9F7B9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550Wh/kg級 or H2/ハイブリッド, MW級EAP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719C53-4E88-48AC-A523-EF23D013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示唆: 滑走路を使える固定翼はeVTOLよりエネルギー効率で有利。ただし地域航空へ広げるには、電池だけでなく燃料電池、ターボ発電、SAFとの組み合わせが必要になる。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F473E-2B22-432E-8553-636BC76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CAAC RX4E/RX1E-A; NASA EAP; EU ReFuelEU.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97A67-DE57-416D-9220-6816DE2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73642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8FE63-C13C-4524-8B60-5ECFD66F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7DFFE0C0-D1AB-460B-9C11-FFF1B7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E9D89BC1-D44C-48AE-A297-C455BF66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BATTERY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5048C-CA15-4FEF-8522-1C059DD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電池革新は、比エネルギーだけでなく高C・安全・寿命を同時に満たす必要がある。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FCDAC-5971-4B58-8060-120267D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セル・材料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05A5E-3D78-4BBA-B869-EE20835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8E61-EE5D-4BFC-B92F-35742A4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92880-31FF-4648-97AC-8DADBE6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高Ni/単結晶NMC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433AA-325F-419B-B6B5-7824C2D2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高エネルギーと出力の現実解。熱安定性と寿命が課題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D3B96-E000-4656-901D-4FAF03C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4DD37-AA82-44A5-97D6-7B3BA23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Li金属/固体電池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D5C7F-23B8-40E4-A58B-7A49E7B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500Wh/kg級セル候補。界面抵抗と量産性が壁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C2028-BA27-43FC-BAFF-210AB1CF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E7D4C-E022-4954-8669-2C0556E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Si/C負極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AD3E5-AA87-4015-B268-F7647A5B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密度を上げるが、膨張と急速充電劣化を管理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D86CE-7A78-4E7E-ADD3-59EB531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5E231-8631-4224-B019-D9407C0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高出力LFP派生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916A0-CF9B-4C8C-B5C7-DD16BB4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安全性は高いが比エネルギー不足。訓練機・地上用途向き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29B34-5BAB-4F3A-A859-070D8CB7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パック・安全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BDB66-3C53-4B5C-B2CD-848CA31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288D-99FB-4B9C-8630-4D3B007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C35FB-EB2F-46E8-9C8E-4F98405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cell-to-pack航空化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013A4-B914-4838-BA21-1DD35AF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構造重量を減らし、整備・隔離・交換性を確保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1A1CF-FB53-40BD-AF1F-BAA1289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1B685-E5AF-42C6-8803-CD41A1C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非伝播モジュール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B349B-DF51-4775-8D2F-D1008A3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熱暴走ガス、火炎、破片を隣接モジュールへ伝えない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99F40-55A5-493B-B4C8-B346DA9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83458-8FAE-4879-BAB0-D523FD45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SOP推定BMS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A4994-3397-4207-866B-6A3173E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温度・劣化・SOCから飛行可能出力をリアルタイム算出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B7859-F64E-4C50-9DA0-0A970CAD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31883-C558-4677-B8AF-248D1B5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急速充電劣化制御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36D016-3417-41AB-A6F7-62F05B7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予熱/予冷と曲線最適化で日次稼働率を上げる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0FEB-4C19-478D-913F-23D2F87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RSC cell-selection review; EASA MOC; 低空航空器動力電池技術路線図 2025.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18087-9DF0-4FC1-9044-C0FB053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33394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0AEAD-5141-4C68-AF9E-5B66AC41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C496728A-EB36-466A-9A1C-2CED11C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4DC40BA8-5D0B-4964-A01F-13C0352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MOTOR AND THERMAL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83E0F-1A70-408A-8645-C814AF76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効率1ポイントの改善は、冷却系と電池容量の両方を軽くする。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A3525-14B7-47C2-A77F-4C5F697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モータ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B8CE-6705-418E-8733-59278C4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E5D4-7477-451C-8D82-B94423CF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8C4CF-D079-4BCF-A227-1F5B4E2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高周速PMモータ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5C86C-F7FE-4C7B-AB43-E4B3DB5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小型軽量化。磁石温度と機械応力を管理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EFA4-2599-47AA-A444-958E1786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FB7B-D88A-4BB1-96AE-8DC5AD9A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軸方向磁束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CBDD7-744F-4A3E-A142-5C602A0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短い軸長で高トルク密度。冷却と量産公差が鍵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24026-DA39-4C92-87EF-B351E076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6C4EF-8E84-4582-812F-D09070DA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超電導/極低温機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6730F-EB61-4D2B-8734-B62713C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MW級・大型ハイブリッド候補。冷却系が重い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CC02C-02D1-4F81-AE16-BA4BDDAF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A1CBC-30EC-49B9-B36A-1E7AA45E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統合プロペラ/モータ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E6560-820E-479D-8042-30A9388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減速機省略、騒音、整備性を同時設計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5D2BA-C62B-4D9B-968B-B602AEA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熱管理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3148C-0803-4417-8BF3-B328A74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5D0F7-EB42-403C-8FD6-7A07F0FC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75552-D905-44BE-9C36-EC3AEFA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浸漬冷却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1E0B9-CFC9-46A4-81A8-D3045853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セル温度均一化と急速充電に有利。絶縁液と整備性が課題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9ED12-A655-490A-BAE1-4936D1F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589E1-C8CB-4EE2-964A-02E2C19C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構造冷却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E07BB-C5CB-4A1A-9820-067F611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翼/胴体を熱交換器化し、ラジエータ抗力を下げる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BD012-9509-40F2-B801-39CC9781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58813-0163-4CD4-ACF8-5FAF03C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相変化材料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7766B-27DB-4EB3-A495-AB5F640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短時間ピークを吸収。重量と再冷却時間を管理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45E74-3918-40E9-9055-257D461F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614E0-EE4C-4AE7-AC29-379BCC7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統合熱OS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000BB-2F90-4C65-8A7D-A17DB68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電池、PE、空調、充電をミッション単位で制御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4BADF-D3EC-40A1-BD82-6399899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Electric Machines / Power Converters / EAP.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2421F5-F247-4B2B-A5BE-CF188D0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67241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8AB00-ED36-4C14-BC0E-2108A2A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E64E36AF-A768-4126-AC13-EFEA745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EF5E2FB3-4588-408B-8816-B560DCE3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INVERTER AND HV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45B07-F834-4C24-B226-432695F3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SiC・高電圧・遮断技術が、MW級電動航空機の実装条件になる。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DB53D-B724-4732-9EFB-1EBC27FA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パワエレ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E9A6-C149-420F-954C-BD911F4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5F621-1838-435E-992A-93CB07D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1B27F-0CF4-43C4-886B-4BEE892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SiC MOSFET高度化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5BB2A-F29B-4F22-885D-1AD96413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高温・高周波・低損失。ゲート保護と短絡耐量が重要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4CFD4-3E9A-47A5-B0A5-33A6528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203FF-E731-4875-ABDC-CD7CB72E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GaN補機電源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AADA-B543-4D90-ABDB-8083207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DC/DCや低電圧系の小型化。主推進はSiC中心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E344E-9CCE-447B-B9B6-532914F0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B720C-78EF-4BA8-811B-EB207E9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3D実装/両面冷却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6E122-A924-4480-B66C-4AE1DEC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kW/kgを引き上げ、熱抵抗を下げる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2AB6-A3DE-4119-B647-57C7FBCA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44D58-BE6A-4B26-AB35-E3D63832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モデル予測制御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C019E-C916-4CB7-B7DA-141DCDF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効率、温度、騒音、故障時トルクを同時制御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87329-EB3B-4A07-9A46-AAFA1B0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高電圧配電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F63C8-661A-45EC-9A0B-AF8666B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83ADC-7081-4D14-AF6E-F2C37F4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89EB2-D22E-4622-9B16-EBDFDF4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1-2kV航空絶縁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F643B-F539-4BD2-84E0-97D0AF7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電流と銅重量を削減。高度での部分放電が制約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D2107-6CB1-414A-9CAC-FA54059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6BC98-80ED-4022-B6E2-2B7E481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半導体遮断器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182D2-48DC-4E64-8A11-747FA816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ms級遮断でアーク・短絡を局所化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3D734-C06B-4171-968F-37BE6C5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F1050-E48A-445C-BE33-CEC2BEBB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ゾーン分割バス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60633-107E-4C61-B46F-BEE03367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単一故障で全推進喪失しない電力アーキテクチャ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171CB-6F6A-4500-84AC-08AD4EF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8964E-784F-44EF-ABD0-A08D8D75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HVコネクタ標準化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7F5B7-C00E-4313-8135-75C8F9D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交換パック、整備、充電の安全性と互換性を高める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F2D8E-A8F5-42F9-9A45-B299842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Power Converters; FAA/ZeroAvia electric engine special-condition context; CAAC H chapter.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371502-444E-4361-8508-BA4111C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379948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53638-B09D-4464-8B8D-C51BFB5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53ADC65E-B7C0-44C8-92AA-FFF6EFE0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3EF145CD-72E3-4F84-9690-EDA9E56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SOFTWARE AND CERTIFICATION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0CE2-0A3F-4AD2-A659-486D8D40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認証・運航ソフトは、2030年代にはコンポーネント仕様の一部になる。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0CEED-38F6-4D7C-BFA1-0D5CAEC0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制御・診断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24BE5-32AE-431C-94A4-C4B1ED6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11BE0-8AC8-4A63-8150-0E5B5B3F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02CD7-3230-4D3E-93D0-A8728CE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エネルギー管理FMS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D64CD-3F31-4F44-98DD-7FAF2F76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風、予備、温度、劣化から残ミッション可能性を更新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AB953-8F4D-4CFB-A6C6-BAD8C5B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B5440-D445-4451-A9BD-EAA2CFF6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デジタルツイン整備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B79AF-88F5-4FBC-B2B1-D4C8CEB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セル劣化、熱履歴、振動、故障予兆を機体別に追跡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24780-3DE3-4EB8-8AC6-7A6E63B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7A37B-6601-466A-BE9D-BA75C8E7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故障時再配分制御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DC2BE-59AE-4E3D-AFA0-C800765E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モータ停止、バス隔離、熱ディレート時の推力再配分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4988-5A5E-4F87-B2A1-BBD67EF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50D05-4672-43B3-931E-A9146DA7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自動充電診断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36C48-7854-4D54-95D8-0F54D9E8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地上でSOH、絶縁、熱履歴を判定しdispatch可否を返す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80905-58B3-42B1-BBF9-184DD11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認証・運航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10352-8870-45BE-A88A-F3A6C49C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8E6BF-6FEC-4B24-BAA0-50243AA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86282-D669-4E07-A7B7-5DD3709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認証用データ基盤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43545-80B6-45B2-BF7F-74AB00CE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BMS/PE/飛控ログをMoCと継続耐空に接続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BA318-7EAF-473C-A3F2-658D563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A1534-FE8B-4AF6-86F0-84D8EE1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標準シナリオ運航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645DF-E5B1-4B33-84E4-8B5A6163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限定ルート、気象、地上体制をパッケージ化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D8A6F-7308-46BE-BADB-F2F2B64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989AF-5348-40DE-989B-4CE75E9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UTM/AAM統合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1A502-463C-4C59-820C-45307FD5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予約、空域、vertiport、充電枠を一体管理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B6F05-E6A4-450D-B12B-D81815FF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DFE6B-4C0F-4C4E-AACF-C5AF56CF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サイバー/EMI安全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A13CB-843D-450E-97F9-FF1F9D0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遠隔監視と高電圧機器の相互干渉を設計段階で管理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8DAB1-163C-4778-BF20-195B2EA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FAA AAM; EASA SC-VTOL; CAAC low-altitude/UAS framework.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1E54F-F6EA-4C6A-86A5-36FD715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25054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23F2B-B722-4039-90E8-812A459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BA3DBE6F-3140-4DD8-9AB2-9C0167E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044F35ED-6BD0-4B4D-9EAB-7E3A6E8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STRATEGIC IMPLICATIONS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FA37F-C814-4C23-A745-6EA07ABE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部品戦略は、単一の“最強電池”待ちではなく、改善クロックの違いを前提に組む。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1C30A-E101-4080-AF03-BCF5A32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9129C-1899-40C3-BB3A-FE157F03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FBE29-A9B9-4487-A4CA-59B7887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71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ミッション短縮で成立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10F41-0C88-4513-B764-CD4393D4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短距離・制限付き運航を先に作り、実データでBMS/熱/整備を育てる。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59552-666E-43B6-BB99-1335773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92D01-44DA-4FD9-863D-BB6B87C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D573B-FB49-437B-B433-8E16F95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パックとPEをモジュール化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5812-9438-4503-BBDE-7343609C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セル世代更新を機体改修なしで受けられる設計にする。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9BBEB-7981-4836-9030-08288527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15D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5D44"/>
                </a:solidFill>
                <a:latin typeface="Aptos"/>
                <a:ea typeface="Aptos"/>
                <a:cs typeface="Aptos"/>
              </a:rPr>
              <a:t>長期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046D7-5190-4059-9D90-D441314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2FE9D-615E-4ED4-A8C8-E9CB8A2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純電とハイブリッドを分岐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800F-D375-48DF-899D-B48BB64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eVTOLは高頻度短距離、固定翼は純電短距離とH2/ハイブリッド地域航空を分ける。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F82EE-5C11-4F21-8553-EB9CEC1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synthesized from component sizing and roadmap assumptions.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75084-FFBF-4B7C-B306-91B8617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671867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A14DC-35AF-44AC-A6A9-92ACB89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3854184A-5FFE-4089-BE47-92A94A6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81D3240D-07AB-4829-9515-1E7885E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GAP CLOSURE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A2509-1F22-4A1E-A0A7-93576FD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2035年スペックは、複数の革新が重なって初めて到達する。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333FF-A4C1-4C7C-8EE7-293EDE7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47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C3703-8D39-4FA7-8DCF-8CB987C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04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300 Wh/kg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63BB-3C8F-4E61-B8BD-B8A5FD9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17B1B-C8B3-4A2E-8FA8-4302029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95638"/>
            <a:ext cx="1047750" cy="2043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6E7F8-8378-4574-A8C2-48C8002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28938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390 Wh/kg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1CC01-C00D-41BB-81C2-D902D834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セル高密度化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AC31C-5C92-4561-80D2-2006736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047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FE9B4-54D8-49CD-9456-CC373FB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440 Wh/kg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8159E-48A0-45BF-AA73-EF0C9C44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パック軽量化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90A2D-762E-4428-A24B-13EAB6F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24150"/>
            <a:ext cx="1047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F26B-EF1C-406A-9793-01D81CE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57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480 Wh/kg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6389-51FD-45D1-8740-59CB575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熱/安全統合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A9258-E2E8-4B20-8988-6ABF1E4B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7438"/>
            <a:ext cx="1047750" cy="2881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9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F7666-A210-4B02-AA9D-D53A644F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0738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550 Wh/kg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2A71F-845A-4E78-9BA9-D4162A9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Li金属/固体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1E0B5-5BE8-4A11-81D6-4315126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目標: eVTOL代表ミッションで650kg級パック、固定翼代表ミッションで450kg級パックを成立させる。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1847A-5DA2-49B0-AEEC-B49E344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2B4D8-E819-4A16-B275-75D10CB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比エネルギーだけでは不足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6B11F-3315-4EF7-928A-C0D91BC6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05200"/>
            <a:ext cx="120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高C出力、非伝播、安全遮断、急速充電寿命、熱管理、認証データまで同時に成熟が必要。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B4CDD-5DB9-4F5D-B558-00AB96E2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scenario roadmap; 低空航空器動力電池技術路線図 2025; NASA EAP.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EEAA9-38E4-4EBD-807D-BDD6E2C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96078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959E9-5AEF-4850-8749-CF50076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44EAB249-44D4-4865-81DC-D759823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97BA024D-BDAE-467E-BED8-DCAF59FE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CALCULATION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06560-5707-427B-8FB8-19578F6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主要式と代表計算は、前提を変えればそのまま再利用できる。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9092A-24B7-41FA-9F32-6780F05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11D6-9CB8-4B5B-8236-80D78FB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計算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F03AD-4BEE-4D61-96C6-B964641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5737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0467-6450-45B4-92D3-0BEC6D2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1452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4DE91-ABCE-4C89-B20D-3478E282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BBC3-7F21-479B-A75E-3B1E28BA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eVTOL例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96D7-C53B-4C27-8FC0-A53F9BE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573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897E-331A-4229-A176-43F0BC8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145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固定翼例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38B8-6DCA-40FF-820B-D77C6C9B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98354-5A84-4E71-80AF-87DB37D9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電池入力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D63F7-1E44-4BE2-A9B0-D429C1B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3840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77C20-BB92-4D8B-9BEE-83909C8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P_batt = P_shaft / η_total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5D07A-8DAD-4BF9-8D3D-59AACA7C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45DD9-1B3F-4F97-AE3F-752C0E0F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hover 508/0.936 = 542kW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49A40-869F-416E-A99E-20692FB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A8AFB-6D47-492C-BC4F-EBD6F07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cruise 41.9/0.936 = 44.8kW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40443-106C-42E1-AF7A-650DFC6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C585E-F294-4F45-B9F1-A786E90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公称容量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ED66C-E899-4731-A860-27FB322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2FF86-03B1-4589-8DE7-2FA0A98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7657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E_name = E_req/(SOC×EOL)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61B1B-5F81-415E-BE46-C6466122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194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9F44C-7DA8-4F00-808F-3B06078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194/(0.70×0.80)=347kWh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6B102-C8A9-4301-B739-7E120A1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83D43-1902-45CE-95EE-DF475C7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7657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134/(0.75×0.80)=223kWh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14AE0-3E18-44A3-8A98-A420C35B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31ECB-95BF-41CC-B8F9-231930CC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Cレート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EC303-4832-447D-82CC-AE308E80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B79AE-9482-4719-8ADF-2DA6C4A3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5760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 = P_peak/E_name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05A38-7C22-4B0B-8283-BDB009A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E3519-A1C9-4735-B80D-05803DA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874/347=2.5C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F3E3C6-B5DE-4412-A520-FC0C842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E42411-EDAB-474C-8FB0-40CC98F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161/223=0.72C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BFE580-E057-47FF-975E-A7D156E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99F8F-5997-4731-8570-BBD8D10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FF820-5C57-4103-A1BB-EFF4384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8147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CA09D6-9A97-43A4-908C-81B0001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3862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I = P/(V×η_inv)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B77B03-21B8-467F-91C4-EE8A361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814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BE1BF7-52C1-4EA9-BC41-7295033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386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874kW/1kV ≈ 887A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F1B722-1D03-44A4-9538-58221540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814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9B889E-F730-4117-92DE-077604EF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386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161kW/800V ≈ 205A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68E551-09BA-4CA6-B66A-65F264F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B11BAD-3D81-4BB9-9588-A1FC7A6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充電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F9F631-C7AD-4A54-8E24-D16D76F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EE7406-B271-4E9D-8BEC-FF01160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965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 = E×0.8/t/η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6BF5FA-20CA-4756-8738-6653C13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B3E3FF-8A9F-4521-8796-F8511305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15分 ≈ 1.1MW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F8A968-3A52-4708-A490-0201904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7DCF41-82E5-44B9-9CD5-DC68AA2F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196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30分 ≈ 376kW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7840E0-9F33-4E16-B6D3-413B2608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注: eVTOLのCレートは保守的な大容量パックでは低く見える。短距離化や小容量化で軽量化すると、同じピーク出力に対して4-8C要求が現れる。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BF77B-CC7F-47E3-A6EE-6882CAC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repository sizing model.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A664E0-A9B4-4413-BDEA-99A2E96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542265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4302F-E410-4521-8C70-D96DD5F8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9500A1B3-FC55-4747-BB36-A060AD5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345606E4-D9CF-44A8-994A-B514560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EE640-6601-410C-889A-0E74285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本資料の数値は、公開ベンチマークと明示した設計前提を分けて扱う。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F89A2-FE06-4D36-9BFE-8F1DB8B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部品技術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309E2-91E1-4692-B99F-F321EC6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NASA Electrified Aircraft Propulsion / Electric Machines / Power Converters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8E2D-74B2-46A8-A483-654E12C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75C7-3299-451B-9223-E772E64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電池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CDF2D-8619-49C7-8D57-5B5EBAA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812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RSC eVTOL cell selection review; 低空航空器動力電池技術路線図 2025; 中国工程科学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C3D30-1054-4E53-A6EC-9143DB5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20CE5-653E-4CC8-92EE-E01BCDE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中国機体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B3F00-AFB0-4130-88CD-ABDFE105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99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CAAC CCAR-23 H章; RX1E-A/RX4E/RX1E-S公開資料; 中国政府网; 中新网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F65FD-DF99-4E4E-9625-60800FD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4A74E-7E45-4B25-97FE-964EDDD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安全認証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FF5F3-117F-4F77-916A-38B0FE6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EASA SC-VTOL MOC; RTCA DO-311A; ASTM F3338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11915-2AE6-4E7C-9D01-C4BD3D3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26D45-ABA3-4D43-9854-15DFCBAB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政策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1B787-AD06-4309-8A44-913B6B5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672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EU Regulation 2023/2405 ReFuelEU; ICAO LTAG; FAA AAM Implementation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98E5-53E9-4FF1-A82C-9D18A92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F182E-2186-4086-AEA0-5566CAE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計算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F25DB-5749-4B90-85A1-6ADF6C6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本ワークスペース research/component-requirements-and-sizing.md と本デッキ data.json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BDF6E-8706-4207-842E-5B6242F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24C41-0458-4A78-BE3E-39081D9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1D8"/>
                </a:solidFill>
                <a:latin typeface="Aptos"/>
                <a:ea typeface="Aptos"/>
                <a:cs typeface="Aptos"/>
              </a:rPr>
              <a:t>想定値は機体メーカーの認証性能ではない。実設計では空力、騒音、気象、予備規則、運航制限、保険、充電設備、整備データにより再計算が必要。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6E5E5-7F0D-484A-940B-164DB61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 details are also indexed in /Volumes/ex/study/e-plane/MOC.md.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B0184-264A-46EA-8C30-794E3CA4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6160726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A9D23-EF70-4C9A-B2FD-57900C1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C06E-F94A-4F28-BF5E-11E1CB22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9FB6A-B078-4608-9894-DC32B48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BATTERY C-RATE EXPLAINED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DC63D-621F-44F9-AF1A-9329FFB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4Cや5Cは、電池容量に対する出力倍率を示す。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C98FC-1D75-4ED9-9E83-8F3E5FC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3A0D2-1E7C-4D9C-9318-621F851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C879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2C879"/>
                </a:solidFill>
                <a:latin typeface="Aptos Mono"/>
                <a:ea typeface="Aptos Mono"/>
                <a:cs typeface="Aptos Mono"/>
              </a:rPr>
              <a:t>Cレート = 出力(kW) / 電池容量(kWh)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02B2-070A-413B-B68B-51D5E0A7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100kWhの電池なら、1C=100kW、4C=400kW、5C=500kW。Cが高いほど短時間に大出力を出すが、発熱・劣化・安全設計が厳しくなる。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5C6D-3918-49B5-B3D0-398B29CD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573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338B8-D125-4042-BA28-3576A74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335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Cレート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BF246-C46D-44AC-84E0-30E5863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FDA21-91B9-4244-B09F-8A3DF32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100kWh電池の出力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703A1-A792-4442-B2C2-E448A239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573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2C52B-4086-4112-B581-2DFB5EE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335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使い切る時間の目安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0FAB9-048A-4372-9154-9E87B5D6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90723-7CB9-488F-BD50-2832A897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335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航空機での意味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25044-D74E-4AA0-BAC0-B5579B5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CC590-1986-49DD-8052-81B4B4AF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5126F-B9C9-46FF-BCAB-AF569B8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4FAEB-14B9-4BDF-9584-50F8279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100 kW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C95D0-0E26-4531-A6D9-5080F96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526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76101-8778-4E56-B9B6-82305556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60分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8E42A-BF5D-4EB5-ADA6-28EB8D9E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526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2FBAD-D76D-41F2-8228-2731FE2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巡航・低負荷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E11E9-8001-4796-84B3-1271DE7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479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EEAB0-2E22-4D42-8AA1-496A7585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241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E4A89-961C-41A4-9B54-A48E583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47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E4088-C5E9-47B7-AD5A-4379B13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200 kW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C803E-9967-4DB6-8558-E44AF1E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47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00822-698D-4823-A8CF-0F9A535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241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30分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D6891-633D-4698-9220-25645CD7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479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C37FCF-0DB4-42BE-8361-14CB3D1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241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固定翼の離陸/上昇余裕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65C86-D5EA-4C3E-BBC2-44D3565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432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27EEE-4C98-4200-8B2A-9439B17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194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610B9-3CC6-474C-AA7E-139BCF9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432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406E65-5C52-4D93-9FC8-5EAFA4CA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194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400 kW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4FFAB-D9DE-4C8F-B4C6-0ACD004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432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EF26D8-2273-4A06-9EA3-82C0923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194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15分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6182BA-1BB4-4E50-997A-D346432F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432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7A7BAB-D349-4043-970E-986206F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194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eVTOLの連続高出力目安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58E056-694F-4BF1-B63E-8E2A9693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385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26B8D-24C1-45B4-B3DF-921A3E5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147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5C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9DD6CC-BF57-45A1-B833-8BB8977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385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6DADF-6DEC-4FF7-A3F1-E5D517A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147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500 kW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02A353-AC2A-48F9-9BA7-D68E66C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385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A03C4-A724-4179-9854-4FB2137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147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12分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9BB466-14A3-4CA3-8862-E8DDA0B1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385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BE68A6-3182-4758-AD07-A3430F0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147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2030年級eVTOL目標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158B6E-E5E0-41D2-8D84-21D894E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338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747132-F79A-4EDB-849B-464B842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10075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A82382-C04A-403F-8B4E-9592560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338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0AAF9D-F8B8-4120-A95A-CCECDDF8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800 kW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04943D-6143-4D6F-A549-65E9E744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338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CBE672-F4B7-4B2D-81BB-D856497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7.5分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734C8B-44A2-44E4-93EC-4103F12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33387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76DE9A-06F5-4188-AE46-8958F39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00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緊急/ピーク出力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AC3190-5513-485E-BA30-2767056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注意: Cレートは容量を大きくすると低く見える。軽量化のため小容量化すると、同じピークkWに対して必要Cレートは上がる。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77A98D-0F1A-4A32-9E1D-53E534A3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battery sizing model; RSC eVTOL cell-selection review.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322E89-AD31-4F8B-8B37-7777A49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9542094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F809A-D823-487E-9B0B-CE55FB8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2DD23-7E31-4268-B14F-66B439D2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ECA1D-A45D-423A-AE70-9F6F488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MOTOR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C6B6A-B5DB-4EC9-87AA-6326073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モータはピーク出力だけでなく、連続熱定格・比出力・故障時余裕で決まる。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F9945-371C-4D33-96A2-B2E87AF4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F3F22-9242-46ED-B919-9E2A9F0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335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F91DE-EAF1-4478-9163-5E96105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573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C4839-5E7F-4E9E-8A3B-A4938652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9335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5席級 eVTOL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6E4D-0C10-4A97-A3D7-D116A3AC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573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50196-5BE8-4680-B1C3-7AA7997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335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4席級 電動固定翼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C9406-E025-425C-B426-B4518AA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573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4DF7F-5A3F-4C04-A39E-9E86214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2030/2035で必要な方向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036A5-907B-4239-AEDA-9A56A2F3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DD5E6-B282-4D5F-97FB-2B3F4BE0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860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総ピーク軸出力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A2A18-0BFB-4619-B10A-D199243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BD5CC-C374-44C0-AE54-CF86570B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860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約760 kW + 15% margin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3D744-E67E-4A7B-99DB-8D3F1470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82889-EE94-45D4-AB11-4624EF8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860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約140 kW + 15%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EE64C-E463-420F-9C21-F4825CF5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98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0BE7F-E324-4E8A-92A0-93D52D9A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8602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余裕は故障時と高温高地で決める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E6581-6EA3-4BD1-A6F2-DF8F7D9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AF38E-68A6-40D6-A016-D06B8C1E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384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1基ピーク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2197F-0369-4541-A6B7-EAB5A7D6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622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0143B-CA28-4858-AD2F-96F2CB6F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0384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8基想定: 120 kW級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73CC9-FB4D-4655-AB7E-ABF9504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622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1192D-4CDC-4290-9EB0-8A061E7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384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単発: 170 kW級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AED92-95D8-498D-9F6B-A5FDEF2B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622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A3332-E35F-4A4F-8E63-8B9EEF4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3847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13-25 kW/kgへ高比出力化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2370B-7B25-4AA6-962E-E67A717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9540A7-2764-4F44-B803-BBFB928F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909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連続定格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AC460-B61B-46EB-8B12-A940408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147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AE9E6-DEF3-4FED-BFD3-AC0B527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5909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75 kW/基級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D922BC-E23C-457B-AB2A-89F9F081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147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1505C3-DFB0-481E-AF48-B820007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909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50-70 kW級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F174C-14E8-4F8B-99A4-F703A65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147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497EA-782C-4A29-8C16-8805420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9092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熱平衡を満たす定格が商用運航の基準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A0828D-06DC-4143-B722-2E0FC0F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6491A-6EE7-495D-8CE1-E10A0699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433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効率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650A7-9B0D-420C-AE18-E74F6649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671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B7A532-0602-41F8-8BD3-EFF7E2D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433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96% -&gt; 98%級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BD0B4C-DC60-4EA2-92A3-48A505A0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210C61-9CB7-44EC-9441-654DFD0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433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96% -&gt; 98%級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EF4F80-0629-4892-8EF7-51DDCB1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671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01BC7F-F289-4FD6-88C5-52391F9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14337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1ポイント改善で冷却・電池を軽くする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11A581-DC74-4767-B1AA-8857426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51DFF1-362C-4D2A-AD0D-AC47795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958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冷却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7ECA7F-CFF9-46E0-9574-8D13E7E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196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5E6771-0D82-473D-869E-5C43496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958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液冷必須、構造冷却へ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78C91E-40D8-43B2-9C48-172E716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96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6AB3D8-C3AB-40C9-9944-32BB985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9582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空冷/液冷、出力増で液冷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96280B-A5A1-4109-9229-E78ACA0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96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78B5F5-82ED-4579-A064-7C10A15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9582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統合熱管理と予兆ディレート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F04900-B63F-47CC-9638-1AA37C7D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BE0905-5A56-4613-B627-7929B20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482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故障時設計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E699B3-7442-4BD1-ACF4-D8D8D4FB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720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8BC0B0-6A69-40B3-AB28-606B9E7E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482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 lift motor outで推力再配分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D1F31E-C831-47F3-9610-CC99A25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720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FA6C7D-CD9B-4403-9993-2B3A1AB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482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復行/片発余裕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4A1BFB-393E-411C-A73F-203754B5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720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385212-81A2-4087-B365-F1DC02B6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48275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制御と電力系を一体で認証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074653-6DF5-425A-B603-B71D4676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52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設計上の核心: eVTOLは多数の小型高出力モータを制御で束ねる。固定翼は単発/双発の高信頼・高効率モータを長時間熱的に安定させる。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7874E5-2BE5-473E-A923-4D1FFD34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NASA Electric Machines; sizing assumptions.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6A1020-3B8A-49ED-B939-0B9DCEB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0254046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6E5D5-E6A5-4268-AE75-14B9F17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756C-F595-4157-B17A-866C86B6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055ED-355D-41D0-B20F-2AE6580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FUTURE MOTOR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984E3-19B9-4A9E-A0DD-CE5EC38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将来のモータ制御は、効率制御から故障時の推力再構成まで拡張する。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3E2BE-BCF1-4707-9A64-9770319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65383-7E02-4F37-B790-5499D33B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モデル予測制御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D65BB-A8E8-4879-A69A-E8E2F89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効率、温度、騒音、電池出力制限を同時に最適化する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7AEBD-2BC5-4BD2-9AC2-42B1BB1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23C8E-8838-425D-9B77-19D515E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66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故障時トルク再配分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6A1D9-33F5-4CAE-81D8-4816A57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モータ/インバータ/バス故障時に残存推進で安全着陸する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C8402-BF9E-4CD5-9EB3-EE3C0147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99ECB-8EA9-4B39-962E-EDE8960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熱ディレーティング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88C3B-257E-48D2-B909-EF0FB3B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巻線、磁石、SiC、電池温度から出力上限を連続更新する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502AF-738B-4C45-8888-4B808B4B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36985-C2E2-4E29-BD86-1D2A1E1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センサレス/冗長推定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4B162-8317-4764-B574-45EE979F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位置センサ故障時にもトルク制御を継続する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BB56F-9BD6-45E9-95A2-540A19CF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1FB65-6ED2-4E2D-8AF2-4FE07C1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E2D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E2DE"/>
                </a:solidFill>
                <a:latin typeface="Aptos"/>
                <a:ea typeface="Aptos"/>
                <a:cs typeface="Aptos"/>
              </a:rPr>
              <a:t>騒音最適回転数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041D8-82ED-4134-AA71-9025E00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ロータ回転数と位相を制御し、都市運航の騒音制約を満たす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D9493-7342-4ED2-843D-FB48CB0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28B77-15B5-4D42-A01C-E602F8E8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E2D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E2DE"/>
                </a:solidFill>
                <a:latin typeface="Aptos"/>
                <a:ea typeface="Aptos"/>
                <a:cs typeface="Aptos"/>
              </a:rPr>
              <a:t>BMS-FCS連携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489D7-5B7C-4B31-9930-F6A6D4E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SOP、SOC、SOHを飛行制御へ渡し、経路/推力/予備を再計算する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84E70-6A4B-40F1-BC1B-CAD6D8A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E4F48-DAAA-4B8D-82B9-D3FE36E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E2D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E2DE"/>
                </a:solidFill>
                <a:latin typeface="Aptos"/>
                <a:ea typeface="Aptos"/>
                <a:cs typeface="Aptos"/>
              </a:rPr>
              <a:t>電力品質制御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4E849-B891-4F91-9499-6D422E2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高dv/dt、EMI、部分放電、アーク検出と保護制御を統合する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96B43-883E-4F89-A9CC-70E0622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0F9C3-1B55-4A5C-AC55-CDC741CC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E2D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E2DE"/>
                </a:solidFill>
                <a:latin typeface="Aptos"/>
                <a:ea typeface="Aptos"/>
                <a:cs typeface="Aptos"/>
              </a:rPr>
              <a:t>認証ログ化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B4C42-87A1-4A09-B8E4-6D8FFD59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14950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制御判断、制限、故障隔離を継続耐空データとして記録する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43626-8D56-4EE5-BE24-D6CB2FE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2035年の差別化は、モータ単体のkW/kgだけではなく、電池・インバータ・飛行制御・熱管理を統合した推力OSになる。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596FC-95E6-4CE3-8759-E3282962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EAP; EASA SC-VTOL; CAAC electric aircraft safety context.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BD869-99F7-43F6-923D-5C911E5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78866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2026-06-03T14:48:12.8000000Z</dcterms:created>
  <dcterms:modified xsi:type="dcterms:W3CDTF">2026-06-03T14:48:12.8000000Z</dcterms:modified>
</coreProperties>
</file>