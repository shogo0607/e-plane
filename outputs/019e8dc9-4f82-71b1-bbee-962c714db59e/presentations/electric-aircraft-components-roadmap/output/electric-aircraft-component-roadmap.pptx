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1556aec6e5475a" /><Relationship Type="http://schemas.openxmlformats.org/officeDocument/2006/relationships/extended-properties" Target="/docProps/app.xml" Id="R38798454c7c94d68" /><Relationship Type="http://schemas.openxmlformats.org/officeDocument/2006/relationships/officeDocument" Target="/ppt/presentation.xml" Id="R57983454bf3943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ac2bc1f3e546cc"/>
  </p:sldMasterIdLst>
  <p:notesMasterIdLst>
    <p:notesMasterId xmlns:r="http://schemas.openxmlformats.org/officeDocument/2006/relationships" r:id="R63a86af5da5943fe"/>
  </p:notesMasterIdLst>
  <p:sldIdLst>
    <p:sldId xmlns:r="http://schemas.openxmlformats.org/officeDocument/2006/relationships" id="256" r:id="R4451bac9c28f4772"/>
    <p:sldId xmlns:r="http://schemas.openxmlformats.org/officeDocument/2006/relationships" id="257" r:id="Reb02aa3d111b4609"/>
    <p:sldId xmlns:r="http://schemas.openxmlformats.org/officeDocument/2006/relationships" id="258" r:id="Rec87a9d0c8a643bb"/>
    <p:sldId xmlns:r="http://schemas.openxmlformats.org/officeDocument/2006/relationships" id="259" r:id="R9ceba5c9a69c408c"/>
    <p:sldId xmlns:r="http://schemas.openxmlformats.org/officeDocument/2006/relationships" id="260" r:id="R408a5d79b71d489f"/>
    <p:sldId xmlns:r="http://schemas.openxmlformats.org/officeDocument/2006/relationships" id="261" r:id="R4b8ab3e7a93340dc"/>
    <p:sldId xmlns:r="http://schemas.openxmlformats.org/officeDocument/2006/relationships" id="262" r:id="R6a5c6af57c1e451b"/>
    <p:sldId xmlns:r="http://schemas.openxmlformats.org/officeDocument/2006/relationships" id="263" r:id="Re0bd1327fe2f4848"/>
    <p:sldId xmlns:r="http://schemas.openxmlformats.org/officeDocument/2006/relationships" id="264" r:id="R4c4c0744fe02448f"/>
    <p:sldId xmlns:r="http://schemas.openxmlformats.org/officeDocument/2006/relationships" id="265" r:id="R4a4c130b110241b8"/>
    <p:sldId xmlns:r="http://schemas.openxmlformats.org/officeDocument/2006/relationships" id="266" r:id="R3308fce1e7d940cc"/>
    <p:sldId xmlns:r="http://schemas.openxmlformats.org/officeDocument/2006/relationships" id="267" r:id="R45916c3d734a4964"/>
    <p:sldId xmlns:r="http://schemas.openxmlformats.org/officeDocument/2006/relationships" id="268" r:id="R989b655d1b6240ac"/>
    <p:sldId xmlns:r="http://schemas.openxmlformats.org/officeDocument/2006/relationships" id="269" r:id="Re0881a1191624471"/>
    <p:sldId xmlns:r="http://schemas.openxmlformats.org/officeDocument/2006/relationships" id="270" r:id="R14fa0d95d098439d"/>
    <p:sldId xmlns:r="http://schemas.openxmlformats.org/officeDocument/2006/relationships" id="271" r:id="Rfe84b94c7bcc4844"/>
    <p:sldId xmlns:r="http://schemas.openxmlformats.org/officeDocument/2006/relationships" id="272" r:id="Rf5e8babf3ee54b4e"/>
    <p:sldId xmlns:r="http://schemas.openxmlformats.org/officeDocument/2006/relationships" id="273" r:id="Rc103b29cb42e41e4"/>
    <p:sldId xmlns:r="http://schemas.openxmlformats.org/officeDocument/2006/relationships" id="274" r:id="R5c7df0f06ef94fb7"/>
    <p:sldId xmlns:r="http://schemas.openxmlformats.org/officeDocument/2006/relationships" id="275" r:id="R9e73aa64460a4a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dbe643d71046b2" /><Relationship Type="http://schemas.openxmlformats.org/officeDocument/2006/relationships/slideMaster" Target="/ppt/slideMasters/slideMaster1.xml" Id="R9bac2bc1f3e546cc" /><Relationship Type="http://schemas.openxmlformats.org/officeDocument/2006/relationships/notesMaster" Target="/ppt/notesMasters/notesMaster1.xml" Id="R63a86af5da5943fe" /><Relationship Type="http://schemas.openxmlformats.org/officeDocument/2006/relationships/presProps" Target="/ppt/presProps.xml" Id="R0074e1b16eeb4820" /><Relationship Type="http://schemas.openxmlformats.org/officeDocument/2006/relationships/viewProps" Target="/ppt/viewProps.xml" Id="Rd02c6fbdd95a456e" /><Relationship Type="http://schemas.openxmlformats.org/officeDocument/2006/relationships/tableStyles" Target="/ppt/tableStyles.xml" Id="R6945f98e7ff44722" /><Relationship Type="http://schemas.openxmlformats.org/officeDocument/2006/relationships/slide" Target="/ppt/slides/slide1.xml" Id="R4451bac9c28f4772" /><Relationship Type="http://schemas.openxmlformats.org/officeDocument/2006/relationships/slide" Target="/ppt/slides/slide2.xml" Id="Reb02aa3d111b4609" /><Relationship Type="http://schemas.openxmlformats.org/officeDocument/2006/relationships/slide" Target="/ppt/slides/slide3.xml" Id="Rec87a9d0c8a643bb" /><Relationship Type="http://schemas.openxmlformats.org/officeDocument/2006/relationships/slide" Target="/ppt/slides/slide4.xml" Id="R9ceba5c9a69c408c" /><Relationship Type="http://schemas.openxmlformats.org/officeDocument/2006/relationships/slide" Target="/ppt/slides/slide5.xml" Id="R408a5d79b71d489f" /><Relationship Type="http://schemas.openxmlformats.org/officeDocument/2006/relationships/slide" Target="/ppt/slides/slide6.xml" Id="R4b8ab3e7a93340dc" /><Relationship Type="http://schemas.openxmlformats.org/officeDocument/2006/relationships/slide" Target="/ppt/slides/slide7.xml" Id="R6a5c6af57c1e451b" /><Relationship Type="http://schemas.openxmlformats.org/officeDocument/2006/relationships/slide" Target="/ppt/slides/slide8.xml" Id="Re0bd1327fe2f4848" /><Relationship Type="http://schemas.openxmlformats.org/officeDocument/2006/relationships/slide" Target="/ppt/slides/slide9.xml" Id="R4c4c0744fe02448f" /><Relationship Type="http://schemas.openxmlformats.org/officeDocument/2006/relationships/slide" Target="/ppt/slides/slide10.xml" Id="R4a4c130b110241b8" /><Relationship Type="http://schemas.openxmlformats.org/officeDocument/2006/relationships/slide" Target="/ppt/slides/slide11.xml" Id="R3308fce1e7d940cc" /><Relationship Type="http://schemas.openxmlformats.org/officeDocument/2006/relationships/slide" Target="/ppt/slides/slide12.xml" Id="R45916c3d734a4964" /><Relationship Type="http://schemas.openxmlformats.org/officeDocument/2006/relationships/slide" Target="/ppt/slides/slide13.xml" Id="R989b655d1b6240ac" /><Relationship Type="http://schemas.openxmlformats.org/officeDocument/2006/relationships/slide" Target="/ppt/slides/slide14.xml" Id="Re0881a1191624471" /><Relationship Type="http://schemas.openxmlformats.org/officeDocument/2006/relationships/slide" Target="/ppt/slides/slide15.xml" Id="R14fa0d95d098439d" /><Relationship Type="http://schemas.openxmlformats.org/officeDocument/2006/relationships/slide" Target="/ppt/slides/slide16.xml" Id="Rfe84b94c7bcc4844" /><Relationship Type="http://schemas.openxmlformats.org/officeDocument/2006/relationships/slide" Target="/ppt/slides/slide17.xml" Id="Rf5e8babf3ee54b4e" /><Relationship Type="http://schemas.openxmlformats.org/officeDocument/2006/relationships/slide" Target="/ppt/slides/slide18.xml" Id="Rc103b29cb42e41e4" /><Relationship Type="http://schemas.openxmlformats.org/officeDocument/2006/relationships/slide" Target="/ppt/slides/slide19.xml" Id="R5c7df0f06ef94fb7" /><Relationship Type="http://schemas.openxmlformats.org/officeDocument/2006/relationships/slide" Target="/ppt/slides/slide20.xml" Id="R9e73aa64460a4a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7dca7830a04b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76f4149326499a" /><Relationship Type="http://schemas.openxmlformats.org/officeDocument/2006/relationships/notesMaster" Target="/ppt/notesMasters/notesMaster1.xml" Id="Rba89f567fd0b4e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568c62a2ba4f73" /><Relationship Type="http://schemas.openxmlformats.org/officeDocument/2006/relationships/notesMaster" Target="/ppt/notesMasters/notesMaster1.xml" Id="Rab0a3d61f81347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aecd520ce34807" /><Relationship Type="http://schemas.openxmlformats.org/officeDocument/2006/relationships/notesMaster" Target="/ppt/notesMasters/notesMaster1.xml" Id="Rd6b8d89133de4b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593873450c4dfe" /><Relationship Type="http://schemas.openxmlformats.org/officeDocument/2006/relationships/notesMaster" Target="/ppt/notesMasters/notesMaster1.xml" Id="Rcbb304ddafc84d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5a9b3ecf844398" /><Relationship Type="http://schemas.openxmlformats.org/officeDocument/2006/relationships/notesMaster" Target="/ppt/notesMasters/notesMaster1.xml" Id="R7488bb1d43ec4a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db0e14a45b42ee" /><Relationship Type="http://schemas.openxmlformats.org/officeDocument/2006/relationships/notesMaster" Target="/ppt/notesMasters/notesMaster1.xml" Id="R7121c111d80c48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f6e646640245ac" /><Relationship Type="http://schemas.openxmlformats.org/officeDocument/2006/relationships/notesMaster" Target="/ppt/notesMasters/notesMaster1.xml" Id="R33e921e03ac849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484aabf49c4056" /><Relationship Type="http://schemas.openxmlformats.org/officeDocument/2006/relationships/notesMaster" Target="/ppt/notesMasters/notesMaster1.xml" Id="R2e5b84d93dec43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677126da37444a" /><Relationship Type="http://schemas.openxmlformats.org/officeDocument/2006/relationships/notesMaster" Target="/ppt/notesMasters/notesMaster1.xml" Id="R6411852de99144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7da98bc3d84b71" /><Relationship Type="http://schemas.openxmlformats.org/officeDocument/2006/relationships/notesMaster" Target="/ppt/notesMasters/notesMaster1.xml" Id="R21cc905c8e5d44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86e06ac25d4455" /><Relationship Type="http://schemas.openxmlformats.org/officeDocument/2006/relationships/notesMaster" Target="/ppt/notesMasters/notesMaster1.xml" Id="R345e60f9589d47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5c8c7b2a8a41e7" /><Relationship Type="http://schemas.openxmlformats.org/officeDocument/2006/relationships/notesMaster" Target="/ppt/notesMasters/notesMaster1.xml" Id="R2f2cbba9430d42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219a7c44df44fa" /><Relationship Type="http://schemas.openxmlformats.org/officeDocument/2006/relationships/notesMaster" Target="/ppt/notesMasters/notesMaster1.xml" Id="Rb3fbe8eb5eda4e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562ebc24ff4eb9" /><Relationship Type="http://schemas.openxmlformats.org/officeDocument/2006/relationships/notesMaster" Target="/ppt/notesMasters/notesMaster1.xml" Id="R6956145dfdc44c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e11208d1ba4811" /><Relationship Type="http://schemas.openxmlformats.org/officeDocument/2006/relationships/notesMaster" Target="/ppt/notesMasters/notesMaster1.xml" Id="R163246e133b64d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1414ef74f142d9" /><Relationship Type="http://schemas.openxmlformats.org/officeDocument/2006/relationships/notesMaster" Target="/ppt/notesMasters/notesMaster1.xml" Id="Rba35bc24b85b43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63f5cc24d343ea" /><Relationship Type="http://schemas.openxmlformats.org/officeDocument/2006/relationships/notesMaster" Target="/ppt/notesMasters/notesMaster1.xml" Id="Rdab5bae55c034b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1410d8b6c948d9" /><Relationship Type="http://schemas.openxmlformats.org/officeDocument/2006/relationships/notesMaster" Target="/ppt/notesMasters/notesMaster1.xml" Id="R9fd6a82577204d3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9da1c8690cb4c21" /><Relationship Type="http://schemas.openxmlformats.org/officeDocument/2006/relationships/notesMaster" Target="/ppt/notesMasters/notesMaster1.xml" Id="Rbf156caa3df440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33238e5e164d96" /><Relationship Type="http://schemas.openxmlformats.org/officeDocument/2006/relationships/notesMaster" Target="/ppt/notesMasters/notesMaster1.xml" Id="R889d148fc1d34d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b8f05ce7744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35233797e0470b" /><Relationship Type="http://schemas.openxmlformats.org/officeDocument/2006/relationships/slideLayout" Target="/ppt/slideLayouts/slideLayout1.xml" Id="Rd9e872978d2742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e872978d2742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cd797e0d84102" /><Relationship Type="http://schemas.openxmlformats.org/officeDocument/2006/relationships/notesSlide" Target="/ppt/notesSlides/notesSlide1.xml" Id="Rcb764aced3964e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f863338354a0e" /><Relationship Type="http://schemas.openxmlformats.org/officeDocument/2006/relationships/notesSlide" Target="/ppt/notesSlides/notesSlide2.xml" Id="Rd62129995fd145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2aab5b2f24a5d" /><Relationship Type="http://schemas.openxmlformats.org/officeDocument/2006/relationships/notesSlide" Target="/ppt/notesSlides/notesSlide3.xml" Id="R074251a7b0dc47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5138e4790428d" /><Relationship Type="http://schemas.openxmlformats.org/officeDocument/2006/relationships/notesSlide" Target="/ppt/notesSlides/notesSlide4.xml" Id="R65f81f4e3f1043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ee262c7e4447f" /><Relationship Type="http://schemas.openxmlformats.org/officeDocument/2006/relationships/notesSlide" Target="/ppt/notesSlides/notesSlide5.xml" Id="R901b5e4ea30944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368c0b0cf4220" /><Relationship Type="http://schemas.openxmlformats.org/officeDocument/2006/relationships/notesSlide" Target="/ppt/notesSlides/notesSlide6.xml" Id="R632e48b973224d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ee07270314fad" /><Relationship Type="http://schemas.openxmlformats.org/officeDocument/2006/relationships/notesSlide" Target="/ppt/notesSlides/notesSlide7.xml" Id="R1c797803a2514b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8afba7fbe40df" /><Relationship Type="http://schemas.openxmlformats.org/officeDocument/2006/relationships/notesSlide" Target="/ppt/notesSlides/notesSlide8.xml" Id="R9a1140b3c4734f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0c55ea2c240da" /><Relationship Type="http://schemas.openxmlformats.org/officeDocument/2006/relationships/notesSlide" Target="/ppt/notesSlides/notesSlide9.xml" Id="R583178d4ba884f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ce0a918f44e23" /><Relationship Type="http://schemas.openxmlformats.org/officeDocument/2006/relationships/notesSlide" Target="/ppt/notesSlides/notesSlide10.xml" Id="Ra233cb0c992140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9d0cdf67d4629" /><Relationship Type="http://schemas.openxmlformats.org/officeDocument/2006/relationships/notesSlide" Target="/ppt/notesSlides/notesSlide11.xml" Id="Rf426039bf5a245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6e3a77d3d4e99" /><Relationship Type="http://schemas.openxmlformats.org/officeDocument/2006/relationships/notesSlide" Target="/ppt/notesSlides/notesSlide12.xml" Id="Rf759eeb65a584d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4aeaf109a4f01" /><Relationship Type="http://schemas.openxmlformats.org/officeDocument/2006/relationships/notesSlide" Target="/ppt/notesSlides/notesSlide13.xml" Id="R44b731f536dd4b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3609a2e5e4ea5" /><Relationship Type="http://schemas.openxmlformats.org/officeDocument/2006/relationships/notesSlide" Target="/ppt/notesSlides/notesSlide14.xml" Id="R386a5d7e2a5746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2567925244caa" /><Relationship Type="http://schemas.openxmlformats.org/officeDocument/2006/relationships/notesSlide" Target="/ppt/notesSlides/notesSlide15.xml" Id="R2084d314155442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12fc53c3e465b" /><Relationship Type="http://schemas.openxmlformats.org/officeDocument/2006/relationships/notesSlide" Target="/ppt/notesSlides/notesSlide16.xml" Id="Rd3ddc50a888f4e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4786bb9814a10" /><Relationship Type="http://schemas.openxmlformats.org/officeDocument/2006/relationships/notesSlide" Target="/ppt/notesSlides/notesSlide17.xml" Id="R177619940f1f4d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d3a4859fe4d04" /><Relationship Type="http://schemas.openxmlformats.org/officeDocument/2006/relationships/notesSlide" Target="/ppt/notesSlides/notesSlide18.xml" Id="R3f3276031bcb48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121a8aacd4f88" /><Relationship Type="http://schemas.openxmlformats.org/officeDocument/2006/relationships/notesSlide" Target="/ppt/notesSlides/notesSlide19.xml" Id="Re8117f0420804e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ca199152e4b90" /><Relationship Type="http://schemas.openxmlformats.org/officeDocument/2006/relationships/notesSlide" Target="/ppt/notesSlides/notesSlide20.xml" Id="Ra875ce8840e64e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1E84A2-663B-4715-BCCF-329E9C83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24238-DA0D-4C6C-80CA-B742BE0A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D1883-FCB1-4B51-AFED-71ECEC35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6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41508-0D88-4192-ABAD-59043C4B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1E954980-24EE-4901-A781-E99BC140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AB34D307-9191-4C3E-8A8B-9492429B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COMPONENT SIZING 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63D52-A1E0-437A-9F05-45237E43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704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eVTOLと電動航空機の</a:t>
            </a:r>
          </a:p>
          <a:p xmlns:a="http://schemas.openxmlformats.org/drawingml/2006/main">
            <a:pPr algn="l">
              <a:defRPr sz="322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主要コンポーネント必要スペック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CFEEF-79A7-4698-810D-9D0787C6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前提・設計マージン・2026/2030/2035ロードマップ・技術革新の棚卸し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DDC3E-BC3F-441F-A8EB-D86B597A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239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8A2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8A23A"/>
                </a:solidFill>
                <a:latin typeface="Aptos Display"/>
                <a:ea typeface="Aptos Display"/>
                <a:cs typeface="Aptos Display"/>
              </a:rPr>
              <a:t>347 kWh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910D6-09C7-4A7C-9F2E-C840A13D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430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5席級eVTOLの必要公称電池容量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C0F35-353B-458E-AF29-646D2553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C8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2C879"/>
                </a:solidFill>
                <a:latin typeface="Aptos Display"/>
                <a:ea typeface="Aptos Display"/>
                <a:cs typeface="Aptos Display"/>
              </a:rPr>
              <a:t>874 kW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37D7A-15BE-4493-B7A5-B7F2DB39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同ピーク電池出力。熱と配電を支配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0DC6B-D356-4BC2-A218-98E895F9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BC0B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5BC0BE"/>
                </a:solidFill>
                <a:latin typeface="Aptos Display"/>
                <a:ea typeface="Aptos Display"/>
                <a:cs typeface="Aptos Display"/>
              </a:rPr>
              <a:t>223 kWh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57350-2940-4BED-BDFC-AAAA0536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95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4席級電動固定翼の必要公称電池容量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CEC24-E88E-4B2E-9BD4-857980E8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387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5E2D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A5E2DE"/>
                </a:solidFill>
                <a:latin typeface="Aptos Display"/>
                <a:ea typeface="Aptos Display"/>
                <a:cs typeface="Aptos Display"/>
              </a:rPr>
              <a:t>2035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49DC4-27B9-4DE8-AF0A-14AE7209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578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商用スケールに必要な部品性能の到達目標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2148DF-C49A-4446-9DE5-A6F56837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657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結論: eVTOLは出力・熱・冗長性、電動固定翼は比エネルギー・巡航効率が主制約。どちらも電池だけでなく高電圧配電、BMS、熱管理まで航空機部品として設計する必要がある。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94EF3-80E8-4491-9127-E6F68D40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NASA EAP; CAAC CCAR-23; EU ReFuelEU; ICAO LTAG; repository research notes.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3FF87-937B-4666-8B65-3636CF4C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8220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D54B75-AAC5-40F8-86AC-49EC2313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65B8DD11-CC75-4E26-8AFD-1F9CF895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C21481DB-6AB4-42AF-BF23-A5E789C8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ASSUMPTION LEDGER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38457-84AE-4221-8526-403EA33D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計算は保守的な予備・劣化・故障マージンを先に入れる。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11976-957C-4861-8057-1D954798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828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実運航では「飛べる」より「毎日同じ余裕で dispatch できる」ことが部品仕様を決める。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9A08F-8CFF-43CA-AA7C-8991927B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31498-6365-4112-9024-EEE11065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13525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A23A">
              <a:alpha val="13333"/>
            </a:srgbClr>
          </a:solidFill>
          <a:ln xmlns:a="http://schemas.openxmlformats.org/drawingml/2006/main" w="9525">
            <a:solidFill>
              <a:srgbClr val="E8A2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40C2C-3345-475F-A198-EA13F265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764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eVTOL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CF302-EB8E-480F-AA12-3382664B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5席級 lift+cruise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57B3A-0F32-4C24-B608-1E8E6E6A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MTOW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DCE98-3474-4B03-BD8E-C9E49165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051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2,500 kg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07094-5169-495B-9664-ED98EFE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ミッション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E7D25-E2B1-4393-A822-F844CF21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480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40 km + 15分予備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FB8AD-D965-4DB8-B5EC-0A02D338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SOC使用幅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62DE9-B5B5-4B87-BE30-5047EE67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70%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2CD15-FC68-4D61-9770-BE77F86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EOL容量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24717-E019-43D7-999B-5FE29968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338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80%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612FA-F4DA-412B-8719-B13E1DA6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ピーク余裕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5F6AD-9C68-41A5-8EA8-5E03A22F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C37D6-5633-4214-B7A5-949900F6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故障余裕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FED51-DD3B-4BF2-8E1E-DE034698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96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1 lift motor 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E071A6-A8FD-401E-BEC9-856AFC4E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4AB5AB-29BF-4285-AD0D-76472EDF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38375"/>
            <a:ext cx="13525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BC0BE">
              <a:alpha val="13333"/>
            </a:srgbClr>
          </a:solidFill>
          <a:ln xmlns:a="http://schemas.openxmlformats.org/drawingml/2006/main" w="9525">
            <a:solidFill>
              <a:srgbClr val="5BC0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225CFA-3B31-4D47-80C8-90337E88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7647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電動固定翼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90D5E0-9819-4E05-8F2A-312DDD6A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09850"/>
            <a:ext cx="419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4席級 eCTOL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92F77D-1804-4067-A82A-18AA06E4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MTOW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F3EE80-4D40-49A8-91B0-5E853DDB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1,260 kg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A38902-DE22-41BA-9C70-CB31BBB2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671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ミッション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C1AECE-936F-4460-8B63-D359176B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480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250 km + 30分予備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4E71A3-3638-423C-BC2A-BBEAB607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100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SOC使用幅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035F77-66E4-48F1-9C2B-7EDF63F5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909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4F6ECD-9270-4A8A-9BEA-E1712BAB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52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EOL容量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67418A-AB98-4924-AE7F-5EBF5AA8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338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80%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A5EEB9-1244-482F-9360-088FD89A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958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ピーク余裕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253C9F-823E-427A-BCC8-095522BA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412E51-1E20-4FDC-84D9-DF6865F9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38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ABB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DABB5"/>
                </a:solidFill>
                <a:latin typeface="Aptos"/>
                <a:ea typeface="Aptos"/>
                <a:cs typeface="Aptos"/>
              </a:rPr>
              <a:t>故障余裕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CFD743-3CAD-4CC7-9DDE-4C794B2E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復行・予備込み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88F453-3C14-468C-BB0B-E1A3541C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注: 数値は代表機の概念設計。機体メーカーの認証値ではない。空力、航路、気象、予備規則、騒音制約で変わる。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FF62E6-7252-4799-8C8D-CCA45321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repository calculations based on NASA/CAAC component benchmarks.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1D8DCA-FDE1-4B8A-93DE-BFEA1214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94640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CB5615-ACE2-4566-8EE0-8B4AD5A1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BCB7A841-77DC-4693-A49A-E5D6A73B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1439E4B4-74B8-486A-A56E-8C7F76EB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SIZING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B81EE-E8BA-482A-82DB-2964901B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eVTOLは揚力を電力で作り、固定翼は抗力だけを電力で払う。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3703E-12E5-42BB-B270-33817D8C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eVTOL: hover dominates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89A20-4F7B-464B-A9C0-5E696D7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FB577-4882-4E89-885E-CD2B6337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9E415-4ACE-4B4D-8D23-7EC57024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C879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2C879"/>
                </a:solidFill>
                <a:latin typeface="Aptos Mono"/>
                <a:ea typeface="Aptos Mono"/>
                <a:cs typeface="Aptos Mono"/>
              </a:rPr>
              <a:t>P_ideal = W × sqrt((W/A)/(2ρ))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D1F49-B5AA-4C61-A5E3-08B59064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総ロータ円盤面積 A が小さいほど円盤荷重が上がり、ホバー出力が急増する。重量増は電池重量をさらに増やす。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7803A-80F1-4231-8CD5-BACBC722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eCTOL: drag dominates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95DF4-626D-422C-89F1-6BB6C679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0B227-4364-49FA-A51E-25173575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DB7D7-514D-4EF9-87EA-DE4CE008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98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E2DE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A5E2DE"/>
                </a:solidFill>
                <a:latin typeface="Aptos Mono"/>
                <a:ea typeface="Aptos Mono"/>
                <a:cs typeface="Aptos Mono"/>
              </a:rPr>
              <a:t>P_shaft = D × V / η_prop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27110-8AD5-4C65-B324-278E4ED6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翼が重量を支えるため、巡航では抗力 D に打ち勝つ出力が支配。高揚抗比と低抵抗設計が航続を伸ばす。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99488-C730-4FC5-8D7F-5CA6667B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8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32D6A-7899-4024-AA97-607149EA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共通式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62C81B-0678-4F5C-AAA9-5928EE97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9105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DAE64-559C-4B97-A3D8-F54CFA36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244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2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6F2EA"/>
                </a:solidFill>
                <a:latin typeface="Aptos Mono"/>
                <a:ea typeface="Aptos Mono"/>
                <a:cs typeface="Aptos Mono"/>
              </a:rPr>
              <a:t>P_batt = P_shaft / (η_motor η_inv η_dist)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9DA4E-3B3C-466B-B8CE-7A398A78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9105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58D64-E3E8-422C-989C-DF3EF0B9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244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2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6F2EA"/>
                </a:solidFill>
                <a:latin typeface="Aptos Mono"/>
                <a:ea typeface="Aptos Mono"/>
                <a:cs typeface="Aptos Mono"/>
              </a:rPr>
              <a:t>E_nameplate = E_req / (SOC_use × EOL)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C1658-C2BF-4867-BE8A-128B5FD7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NASA eVTOL white paper; standard rotor momentum and fixed-wing drag equations.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EF3A3-73FE-4331-A511-DD6C5FF8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58630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179089-5A1E-4105-97EE-DCBCD47B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DB36DB57-1496-42A0-AD99-27D21022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7ABEF11B-E09D-4CED-8339-9E7178C6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CALCULATED SIZING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5EED2-3FFB-4747-8B7F-EBC8CC58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設計マージン込みでは、eVTOLは874kW、固定翼は223kWhが最初の設計制約になる。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3A870-9BFF-438A-BABE-5E4E75CC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386E4-7CEB-4975-B87E-0E13A3DE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項目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B772A-C4E0-470C-986D-887729ED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95262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F5C61-8CDD-40D0-803C-6885165C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00977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5席級 eVTOL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0E408-840F-43FF-8EB4-4A994C89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34DB3-7C8D-48B1-902B-FAD037BB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977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4席級 電動固定翼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BA1AE-13B1-4875-8D44-16A18C84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52625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A9071-1F63-4DB7-B8C3-ED94BBB4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09775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設計上の意味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F9CB9-F563-4A57-9E19-EC69E03E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327B7-E662-4E0D-86DF-141CB10A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必要実エネルギー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3C770-AB52-421C-AC8B-AA1BD471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40030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DAD24-AB12-407B-9D1E-90F63670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5745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194 kWh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165CC-282A-45B0-A701-8895BEB9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D9380-9049-4668-9F76-3B68694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134 kWh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C9622-B9AD-48A4-9CD7-DD5F7DEA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00300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04B3C-AF3F-4C2E-A5E1-E8324951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57450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予備込みの実消費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6FF01-722E-458A-B17A-51D6F685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194AF-D03E-4673-8E41-26CB0F2B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公称電池容量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947CB-392A-4BDF-BAF3-0DA039C0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84797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BCFEF4-D248-42E1-A005-49D5F6E9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90512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347 kWh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6DD35-E03A-4A50-A2D2-CD1FA2C4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4797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91927B-E123-4247-845A-AC0A044F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0512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223 kWh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3B962B-80FA-44EB-9AE1-7F162580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47975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C27427-9BA5-408A-A0E9-4B8CBF6A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05125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SOC/EOLを戻し込んだ容量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E7D2A-35CB-4648-A7E1-2279151B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9A6FF0-6F3D-421B-9C4C-4C8E3E7F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ピーク電池出力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3D7391-AC77-4930-9E50-E5C371A9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9565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7AE344-A975-4DF4-B5EC-97D35DD2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35280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874 kW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9028E8-7BCA-45BC-B2BD-6BBED8C9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9565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9D3285-82ED-4E3B-8BC9-A84F6C9C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5280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161 kW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601397-7E43-4D3D-961A-4BA3AC94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95650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80A07D-87C2-4672-91F8-6E043D02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52800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出力系・配電系の定格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67720D-D8FB-4F1B-8675-0CDA2732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F2C19E-1046-4EA9-8983-23F45B44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巡航/ホバー電力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9397C9-4825-44C2-B1BB-C38C8627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74332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EC41F3-A600-4394-81A5-AD1577E2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80047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542 kW hover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580664-8B03-4F4F-AB57-79561402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4332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5E6FAA-9E9B-4669-A776-AEF4FE81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0047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45 kW cruise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3D4393-9635-4562-BEB4-C8A540DE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43325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8186D0-58F1-4D80-A8E8-5BBD9BBA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00475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熱平衡の基準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AD6756-FFB4-4EC8-B10E-F315E879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389550-9F55-4475-A861-ADA5EB6D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目標電池質量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76D91A-32BC-4E8B-8A33-8B1FD217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19100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CC1AB9-6EDF-4D1C-8F05-7B8CA1C5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4815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650 kg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50BC89-A6AF-45AE-BE7A-7BA08F7D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9100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F7119B-CD81-4E02-AFE3-194DAFC7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450 kg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728F21-DC2E-4B6A-955B-1CD8969F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191000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F9D857-D1B3-4BC3-B603-A0DD0193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48150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機体重量成立の仮置き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B052EE-F2B5-4F0E-B20A-E562BB30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38675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D708E6-17BA-4F9A-9EA9-CD74BB54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必要パック比エネルギー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7A1DC4-42CF-41E8-9007-CC2B4D7B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63867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871858-8897-4C32-906E-73691E6D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69582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534 Wh/kg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7A8AF6-5736-4C3C-8E61-B3E06212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38675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66AC94-CD3E-4076-98D8-F3ABFB9D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9582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497 Wh/kg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52C3EF-45BB-4908-A6DD-CF6E2A21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638675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876404-0DA4-4C5A-A41E-1FD6E46E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95825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2035級の目標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33D229-FC4D-4A06-91CC-A9A1CDC4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17621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44991F-4C61-4200-944B-A9AB6FB9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609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高電圧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CBD0DF-4F8D-4BFA-9210-ECA16529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08635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F4E4AA-01C5-4181-9860-F479A9D8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14350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1,000 V split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354F56-E2B4-4530-A3E2-2ADFDB7A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86350"/>
            <a:ext cx="1952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B86C05D-A798-42D5-87DE-7DD6AFAB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43500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800 V main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9F1B62-995A-482D-91B3-1DB7890C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86350"/>
            <a:ext cx="3476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59C2162-B996-45DD-8155-A57D55BB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143500"/>
            <a:ext cx="3324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電流・銅重量の抑制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4DCEE2-7BE1-4FD0-9D10-EDB674D3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読み方: これは「現状機がこの容量を積む」という意味ではない。保守的な商用ミッションを成立させるには、現行ミッション短縮、電池質量増、または2030/2035年技術への依存が必要という意味。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63F0DF-D1B1-4197-AE63-71D58704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repository sizing model; NASA/CAAC benchmarks.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2435D5D-9CCE-46E0-BCA1-C3FF5C1F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16921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E6CB89-898F-4FC0-90A8-16D20C3A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0E31FD3F-EB95-4953-9A55-A2EC54AA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843C0261-8F4A-4B0B-ACA1-83C2CA56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BATTERY BOTTLENECK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425AB-087F-4E7C-AC03-3BDC397F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2026年の電池では、予備込み商用ミッションの質量がまだ重すぎる。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60416-B7D2-46C1-A870-551DBDC8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必要公称容量を各年の想定パック比エネルギーで割った電池質量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3BEEE-169A-4C7E-9D2B-21044F6E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C37E2-32DE-4710-8CB0-7969E92F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6AC3E-9480-482C-89FB-90A39F1A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523017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B914F-727B-4FA5-A4E4-7E3B419F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eVTOL 300Wh/kg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5BCC5-8929-47F5-890C-9B48243E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384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1156 kg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37AB0-88D1-44B2-8A58-C71BE75E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95600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94EB9-5172-4FE7-9DCE-97A0D834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95600"/>
            <a:ext cx="315801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3262B-DE0A-4FBD-B712-85B74BE6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eCTOL 320Wh/kg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0AF55-8336-40D8-8C11-E994E748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698 kg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C37EA-A2C1-4A3D-84EB-A5695E9F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1E728-BB0F-4313-B2AB-4002B01C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E029E-F8DE-480A-B736-E3604937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392263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F504C-31DC-48B4-AEA0-E1397C7C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eVTOL 400Wh/kg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0B490-871E-415D-BFDE-22412FC7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814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867 kg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38EF8-2850-4ACF-8267-947C83ED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38600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BC77A-2C22-4845-8040-517D1732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38600"/>
            <a:ext cx="224861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550739-9EFD-4758-9FD2-A53F2D29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481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eCTOL 450Wh/kg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82C77-46CB-4509-957C-75BF8D83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95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497 kg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9CF678-C3B6-4CC1-B252-659E1B80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2035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448E0-E5B2-45A7-8420-956601A2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478B67-7812-4144-9528-423173B2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2854881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7F863-D905-4EFA-AC62-DEAC5AB4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eVTOL 550Wh/kg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FA6958-2B2A-445C-90EE-D9893A0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631 kg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292810-D754-41FF-8687-BD064926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81600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63AF5F-BDF5-41DF-9751-7517F90B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81600"/>
            <a:ext cx="1836896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B5A2FD-54B8-413B-A554-C6C8C3DA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911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eCTOL 550Wh/kg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B666E7-1F51-4C6B-944F-EDD97139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406 kg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D6B7BB-8F43-4C16-9B1E-683350F5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444BD3-3617-46E5-93CE-DE8E1D4E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設計解釈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DE9761-E190-4A91-ACDE-94332BD6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2026年は短距離・制限付き運航が中心。2030年に固定翼が商用余裕へ近づき、2035年にeVTOLも650kg級パックで代表ミッションを満たす。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2267CD-33A5-4547-9F07-83DD22C0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87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C879"/>
                </a:solidFill>
                <a:latin typeface="Aptos"/>
                <a:ea typeface="Aptos"/>
                <a:cs typeface="Aptos"/>
              </a:rPr>
              <a:t>目標質量: eVTOL 650kg / eCTOL 450kg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5B5267-B2C0-4C70-B35E-BB764663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roadmap assumptions; 低空航空器動力電池技術路線図 2025; NASA battery context.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93757C-3F1E-4BF1-B912-024F2B93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89334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C7C932-D2FA-4E6E-857A-196CD0A6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403F9DDE-8D4B-491D-A849-28122673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0941BED-51F6-442E-AFAA-D7AE447A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POWER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69666-C614-43BB-91AF-86AB6E0D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eVTOLの電力系は、ピークkWよりも熱・遮断・片系統故障で決まる。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F5759-2CF4-42BF-8731-63AD650F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E8A2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C6362-F46A-4AF7-B3FE-03C7BCFE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Battery packs</a:t>
            </a:r>
          </a:p>
          <a:p xmlns:a="http://schemas.openxmlformats.org/drawingml/2006/main">
            <a:pPr algn="l">
              <a:defRPr sz="10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347 kWh / 874 kW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62C01-DFE6-45E6-B0A5-6003B4BA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8607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D0928-FC7E-496B-97AF-E08E6242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289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A4269-6740-4C25-ABC2-812AF248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F2C8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9CC4D-310E-4E1C-81D5-9DB4293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5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HV buses</a:t>
            </a:r>
          </a:p>
          <a:p xmlns:a="http://schemas.openxmlformats.org/drawingml/2006/main">
            <a:pPr algn="l"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2分割 1,000 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70C7F-EB22-4324-80B9-D8945480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8607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A31F5-1976-4B2C-997B-761756C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289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C8100-F3D4-41CC-8A8B-2D0CA7A5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5BC0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A4C14-18D8-4D91-9707-10636E05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0985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Inverters</a:t>
            </a:r>
          </a:p>
          <a:p xmlns:a="http://schemas.openxmlformats.org/drawingml/2006/main">
            <a:pPr algn="l"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8×125 kW級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28F5C-6176-48C1-B3E9-A9B40B25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8607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5C4FF-7299-41EC-9B57-B728AF0C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289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F6468-9859-4E9B-A65A-3C050AB1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A5E2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30862-1AE3-40D7-A8E2-C088E660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0985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Motors/rotors</a:t>
            </a:r>
          </a:p>
          <a:p xmlns:a="http://schemas.openxmlformats.org/drawingml/2006/main">
            <a:pPr algn="l"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8×120 kW peak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9ACEF-74A5-4865-8B55-D9A6291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86075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ABC8F-5426-4B8E-AEBD-2AAD8100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289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B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BAD10-AB30-479D-8C4F-1DDEBEB4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E15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D3D8B-C26C-46EF-888B-7ABE75E8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0985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Thermal loops</a:t>
            </a:r>
          </a:p>
          <a:p xmlns:a="http://schemas.openxmlformats.org/drawingml/2006/main">
            <a:pPr algn="l">
              <a:defRPr sz="10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約55 kW排熱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C68489-AA56-4DA5-A680-8C595A37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4488B-1C4F-475A-8087-8627A85D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電流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0F5F3-A67B-4EB4-A947-08C50B08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1490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874kW / 1,000V ≒ 874A。2バス化で片側約437Aへ下げる。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27B6B-74BD-40CE-9731-7E9169E3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34DE97-75C9-4ED9-AF3B-C71D2862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DEB176-5AA0-43D4-AFC0-EA24029C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1490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モータ・インバータ・配線損失でピーク時50kW超の排熱。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347244-FEF3-4A91-B379-5E008066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E5BB0-4EBB-4E7A-830C-9150E6C1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故障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9B445F-7D0A-423F-8438-5DBCF6FF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14900"/>
            <a:ext cx="2266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1基停止でも残存モータで安全着陸するため1基120kW級。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9C4BB-5C8D-4F86-99F8-EB55CF48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NASA Electric Machines / Power Converters / EAP.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BF0E13-CA71-4C68-9E9D-C5A204CE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315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1F3897-02DF-446B-8D40-2E42F84E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03A9D979-BC35-4963-9FCB-DC3C9DD3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8D1DBB29-4594-4BC8-854C-A2DBA23F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BMS AND HV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6060A-2FD3-447D-A05C-DB9CB806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電池システムは、推進源・安全装置・整備データ基盤を兼ねる。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6649B-86C1-439B-B113-DA2EA564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D0E7D-FE6A-4F6E-9DDA-7C81F86E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階層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363AD-3DE2-4F5B-AAF3-0D2A633A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52625"/>
            <a:ext cx="3476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A1827-FC12-430A-855B-BB3D182F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9775"/>
            <a:ext cx="3324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必須機能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13136-45FC-4340-9FB4-4E44395A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9526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D4D60-2FFB-4D0F-8AB5-5F424F1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977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設計スペックの意味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BFFCC-A2D1-4E71-A7AA-91315509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1314C-7B3B-491B-BD89-CAF77803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セル/モジュール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D6C92-F7D4-45E2-AEBA-90E0FE5C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05075"/>
            <a:ext cx="3476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AD283-7395-4E6F-B7EE-F387DECD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62225"/>
            <a:ext cx="3324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電圧・温度・内部抵抗・熱暴走予兆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52A37-013B-4AC8-83DC-461B04FA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5050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13530-C258-4F3B-9D74-6F77C901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6222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SOP推定と非伝播設計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57B31-6765-419C-85AB-4320C7A2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D1207-D4C9-4FEE-8831-15EC3261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パック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E217D-81E9-4FF9-80BB-41035432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57525"/>
            <a:ext cx="3476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E44B5-4EA7-4455-B029-170A5D60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14675"/>
            <a:ext cx="3324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接触器、プリチャージ、ベント、交換ロック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99599-5824-4AF9-9B79-79FF294F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0575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CB492-3DC0-44C5-8A14-129BD716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1467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高C放電と整備安全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B3CDEE-59EB-4380-BE02-BADD31A4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C916E5-E0EF-4280-B21F-95D8025B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BMS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64E57-2CD3-4767-8EC1-F787C06C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09975"/>
            <a:ext cx="3476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499F6A-7920-40C8-8D71-8A84625B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67125"/>
            <a:ext cx="3324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SOC/SOH/SOP、ログ、ディレーティング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4FF220-F9DF-4CB1-863F-BD360682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6099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11927E-FB97-4C14-AA2F-9A1299B7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6712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飛行制御へ出力制限を通知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F5EB76-55D1-449C-83C5-978601AF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E2F791-1E20-4D9B-AC2A-11513546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HV配電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763379-826F-4DAA-8478-CB41FB46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62425"/>
            <a:ext cx="3476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E7CECC-3E36-4584-939D-1AC85E8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19575"/>
            <a:ext cx="3324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絶縁監視、アーク検出、SSPC/ヒューズ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780DB5-16D7-4856-AC20-5449E126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16242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DCB339-2DA7-45A7-AABD-2C4494B1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21957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単一故障を区画内に閉じ込める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3A59BB-C94E-476D-8F67-58221EB7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98D00F-F4E8-4C68-955E-9F597355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371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認証/整備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33120D-2CCA-4935-A085-A9130A1E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14875"/>
            <a:ext cx="3476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159393-0D99-4D44-B26C-4C481CB9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72025"/>
            <a:ext cx="33242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履歴、劣化モデル、ソフト更新管理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49E710-84BB-45DA-9C40-3AF81593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714875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6F413A-E94F-4F21-B9E1-5F726ACA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72025"/>
            <a:ext cx="3943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継続耐空の証拠になる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5FE60D-3F23-4306-9D4F-F754F0F6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1066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E7567D-0411-4CC1-B182-B0A56338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81250"/>
            <a:ext cx="800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SOCだけでは不足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07BC0C-92F2-4009-A839-0ED67A15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05150"/>
            <a:ext cx="800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温度・劣化・低SOC時に、必要出力を出せるかを示すSOPが重要。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9440BC-35D9-4DDA-B971-41245758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EASA SC-VTOL MOC; RTCA DO-311A; CAAC CCAR-23 H chapter.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DFD032-3F5F-4D6F-95CE-FD9F67D4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89752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0DB01C-420A-47B6-AD80-88AA1D85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ADACF4B9-F33F-47FF-A482-86CD9336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9C74B811-EA82-4A8E-A993-BC18812F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GROUND ENERGY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DF66F-52A3-4871-A01B-5F405E0C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充電設備は運航率を決めるため、機体部品と同じロードマップで見る。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474A3-DE8A-46D6-A8ED-E527A8C9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5BB6B-4428-4FD4-9769-7850DBD5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47974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11005-C90B-4DB2-9BFE-9FA9F379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eVTOL 15分で80%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E6A31-E2D9-4006-AA6B-29CA9812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2407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1109 kW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FFA62-8DF4-4E48-AA17-03321AE4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8607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74B88-476B-42AF-9A68-8FE4CDEB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86075"/>
            <a:ext cx="35991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9A277-413F-4838-A106-27892BF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955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eVTOL 20分で80%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69533-007D-43DB-98B0-BA0126E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670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832 kW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901AE-2689-429D-BDD5-022907AD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2902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CF4D0-95D7-461A-B7AA-5ECAB5C7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29025"/>
            <a:ext cx="162655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EFF2F-A3B5-49C5-9F97-92DDD720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eCTOL 30分で80%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201EF-DC67-4B83-A911-B0BC8D15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997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376 kW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44DA0-9AAD-41E0-9103-A192704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7197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EE0AB-4117-4387-BC1D-6F126B90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71975"/>
            <a:ext cx="81327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2DD22-E53F-47E9-BBB7-5EA5A6A5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8147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3CDD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3CDD5"/>
                </a:solidFill>
                <a:latin typeface="Aptos"/>
                <a:ea typeface="Aptos"/>
                <a:cs typeface="Aptos"/>
              </a:rPr>
              <a:t>eCTOL 60分で80%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A80F5-13F0-40DB-A409-C8697254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529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188 kW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D71EE-6BFC-4AE6-A073-4D9FCE3A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2E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6F2EA"/>
                </a:solidFill>
                <a:latin typeface="Aptos Mono"/>
                <a:ea typeface="Aptos Mono"/>
                <a:cs typeface="Aptos Mono"/>
              </a:rPr>
              <a:t>計算式:</a:t>
            </a:r>
          </a:p>
          <a:p xmlns:a="http://schemas.openxmlformats.org/drawingml/2006/main">
            <a:pPr algn="l">
              <a:defRPr sz="1275" b="1">
                <a:solidFill>
                  <a:srgbClr val="F6F2E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6F2EA"/>
                </a:solidFill>
                <a:latin typeface="Aptos Mono"/>
                <a:ea typeface="Aptos Mono"/>
                <a:cs typeface="Aptos Mono"/>
              </a:rPr>
              <a:t>P_charger = E_nameplate × 0.8 / t / η_charge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34146-3FCB-401E-A02A-3D1739D6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前提: η_charge = 95%。同時充電、冷却、系統契約、消防、SOH確認、ターンアラウンド動線が追加制約になる。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029B4-F832-49B1-9E03-EB7FA8A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1476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1BFDE-17C3-41A9-900D-34B8EC0A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193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2030以降の焦点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4DB3A-E743-4F41-BCD8-CD39998D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181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MW級急速充電</a:t>
            </a:r>
          </a:p>
          <a:p xmlns:a="http://schemas.openxmlformats.org/drawingml/2006/main">
            <a:pPr algn="l">
              <a:defRPr sz="938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パック予冷/予熱</a:t>
            </a:r>
          </a:p>
          <a:p xmlns:a="http://schemas.openxmlformats.org/drawingml/2006/main">
            <a:pPr algn="l">
              <a:defRPr sz="938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自動交換設備</a:t>
            </a:r>
          </a:p>
          <a:p xmlns:a="http://schemas.openxmlformats.org/drawingml/2006/main">
            <a:pPr algn="l">
              <a:defRPr sz="938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SOH診断</a:t>
            </a:r>
          </a:p>
          <a:p xmlns:a="http://schemas.openxmlformats.org/drawingml/2006/main">
            <a:pPr algn="l">
              <a:defRPr sz="938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標準化消防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28EE8D-A5A4-470C-B275-5B11C14D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sizing model; FAA AAM infrastructure context.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34FCE1-8CF9-4EEC-B0C6-56706187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03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60640F-5989-46AE-9504-83DD2731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3F32B538-E4EE-4F52-AF14-81D96EEC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6E9183D6-55AB-46AA-9225-B1710523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EXTERNAL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A5BDC-0504-47F6-B0BA-B3D98143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社会・規制は、短距離電動化から高頻度・広域脱炭素へ段階的に圧力を強める。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6DAE3-0118-4B81-8153-912AC06A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876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D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30D12-59A5-489B-B711-BBC26B57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1D0C3-C425-49D1-817E-C31358F9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D6A65-D9C7-4514-95D3-023010C4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40328-4BA4-431F-AC8C-C1F59F97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2028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DDA34-F89C-48FF-9ACC-126C99C3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F882C-4712-49E8-ADF9-F9BA16A2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2030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A55E0-B5BD-400B-AC53-29566307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A8061-0C19-443E-B541-D6786B5B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670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2035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9D887-28FF-4D4D-9EFB-84E7D6BD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6195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ECAA6-DB4A-4747-8225-00DD411C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8100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5B1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5B12"/>
                </a:solidFill>
                <a:latin typeface="Aptos"/>
                <a:ea typeface="Aptos"/>
                <a:cs typeface="Aptos"/>
              </a:rPr>
              <a:t>制限付き商用・認証先行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74FB5-801C-4C2B-BC9B-DE3A7489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672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CAAC/FAA/EASAで個別認証と初期運航。中国は低空経済の制度化が速い。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360E6-ABF7-4249-A550-986E3E59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8EB4C-A3A3-4C94-8589-A2AA573F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100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5B1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5B12"/>
                </a:solidFill>
                <a:latin typeface="Aptos"/>
                <a:ea typeface="Aptos"/>
                <a:cs typeface="Aptos"/>
              </a:rPr>
              <a:t>AAM初期運航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9CDB0-8CDA-4C60-AF0B-96401D3E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672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FAA Innovate28: 2028年までに1拠点以上で規模ある運航を目指す。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964A2-F6DE-4ABA-B3BA-E5EC2B80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195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0E2AC-ACCB-4E79-A06A-7471889C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8100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68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6867"/>
                </a:solidFill>
                <a:latin typeface="Aptos"/>
                <a:ea typeface="Aptos"/>
                <a:cs typeface="Aptos"/>
              </a:rPr>
              <a:t>環境規制の加速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B32EE-DD01-4A9D-B24C-6807667B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672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EU ReFuelEU: SAF 6%、合成燃料枠1.2%。電動/水素電気の比較価値が上がる。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C8C70-4DAD-46B1-A433-9D6F2AA6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2095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1DB236-C901-469E-BF5B-CFCB79C0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100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686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C6867"/>
                </a:solidFill>
                <a:latin typeface="Aptos"/>
                <a:ea typeface="Aptos"/>
                <a:cs typeface="Aptos"/>
              </a:rPr>
              <a:t>短距離電動化の商用拡大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2E076-5C8B-47F9-BAB2-CC25FBF8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EU SAF 20%、合成5%。電動固定翼/ハイブリッド/水素電気が地域航空の選択肢へ。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B7179A-DC76-42F8-AAF2-B46457BC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876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2050: ICAO LTAG net-zero、EU ReFuelEU SAF 70%。2035は電動化部品の商用成熟を問う中間関門。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549838-9AE4-4EA9-B588-C6BA6A9A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EU Regulation 2023/2405; ICAO LTAG; FAA AAM Implementation Plan; CAAC low-altitude policy.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B7791B-1739-41BB-B831-FB48592E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592413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9E7C7A-0BB5-4FC6-8DC1-223420FB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181C7B13-1105-4215-875D-D7E0C951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91298076-C2B6-4C79-B675-E029A68F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COMPONENT TARGETS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0DB38-AA03-41EB-967A-DB8FEDA6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2035年の市場拡大には、電池だけでなく電力変換・高電圧・熱管理の同時進化が必要。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2C435-FD9E-45FE-B120-4FE0880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377BF-B8E4-4120-875B-DA631C22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領域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EF5F6-31D5-4539-A618-A3C4DF53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773F1-65B9-48C4-AC10-3A9C579B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86690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1128C-E2EB-4F29-8490-5D7A9825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EBAB0-C32B-4D3C-8EA0-83520E2B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40D6E-66DA-4AE6-BE02-8715C2F0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656D1-9A24-4E50-8BB9-3A129DE7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6690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2035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15D92-D077-45D8-9B9D-851B398F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6DB2A-AC33-42E2-AF1A-9C1005B3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電池パック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F6E04-8E6B-4748-AA97-8EAC6D28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1932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B9541-7294-414B-8317-78C5CA4C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764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300 Wh/kg・4C/8C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D6361-B272-4A36-AD80-FF0D4694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1932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87BF3-8EA9-4DF0-9C46-77CEB021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764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400 Wh/kg・5C/10C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6767C-41D6-4B5C-A30A-BF123B3E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1932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59099-0597-4270-9A4C-066FA333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764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550 Wh/kg・6C/12C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46C192-258C-4142-A9F5-F88687AB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0B9DE9-80E7-4A0B-93EC-A5C6F6E3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モータ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4FFE2D-EEB2-461F-A293-49CF3E68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2890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BB5CA-D273-4F34-9DFC-53BEB280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68605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8-10 kW/kg・96%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6F5A7-B1FB-4832-AAA4-DF5E3402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8B223-EDD6-46A0-956B-150A2DBC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13-16 kW/kg・97%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4E5A02-939A-40E3-AC62-5DE80C50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2890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5EB7A3-5BAE-44AC-A074-15578F66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8605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18-25 kW/kg・98%級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5318B8-C24F-4565-89E0-9E408D92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7371B1-486A-41F2-9D74-699B33B5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95625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インバータ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8F170A-A41F-4E80-9296-E6B3A0A2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3847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AA2744-1204-4D89-B980-649A801A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9562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10-15 kW/kg・99%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B082C-197A-4038-ACE3-6DF30849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3847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681511-B240-4262-B30F-98E68E99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9562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25-35 kW/kg・99.3%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FF788D-2817-45EF-9CF5-75CE2286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3847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792F7A-1154-4F92-A3D7-84CE8286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9562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40-60 kW/kg・99.5%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49C2CC-4454-48EA-A4C6-0C58CE98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4B28EF-DCE1-4740-94E4-EA3D5A34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高電圧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EEA103-2590-4912-89AC-988BDAC1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44805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A751AD-7725-4A37-8182-338DDEB2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0520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800-1,000 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FC765A-6A31-4082-9C60-630C970D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4805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3A2E55-6AC4-400A-959C-52410AE8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0520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1-2 kV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EE381C-3A89-41A4-A1D9-ED0763F2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4805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925FF5-DB2B-47C4-A095-29F050C0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0520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2-4 kV、部分放電管理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F66E4D-2BBF-49EA-86CE-BACA8ED1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2E4E11-3308-4367-8C6E-642A80D1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14775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熱管理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7742E0-9F01-4DE1-BB3B-3954AD35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5762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7D4527-BF0E-444D-BA9E-8BC33705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9147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液冷・独立ループ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4427CC-9495-47B4-8618-54EE7042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5762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05A1FD-06E4-43E8-93D0-4A3FB107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147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統合熱管理・予兆制御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3CC05E-D7BB-4686-8EAD-2D10A928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F2A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C3FFFE-8583-48DA-A451-F2FD24C8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147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相変化/浸漬/構造冷却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3C7E17-9F4F-4F38-B4A7-9E5B0BAA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476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BDB994-D21E-4FE2-8DC5-B4F1FA62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13239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運航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ADCC309-B318-4613-A8A0-187A685F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6720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627256-0E19-4157-BCC8-C4065C7E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32435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制限付き商用・訓練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EFDFB8-25D1-47A8-8087-A3BD9185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163D01-6A04-46CE-AB98-CC0FFE80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定期短距離・都市実装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E28592-26C3-4657-A131-22337A4B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67200"/>
            <a:ext cx="1952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F"/>
          </a:solidFill>
          <a:ln xmlns:a="http://schemas.openxmlformats.org/drawingml/2006/main" w="9525">
            <a:solidFill>
              <a:srgbClr val="31455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3D6C7B-6619-429E-AC74-76C2B1A6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24350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広域/高頻度・自動化拡大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4F7328-7463-4999-9581-73F2DA1F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D1D8"/>
                </a:solidFill>
                <a:latin typeface="Aptos"/>
                <a:ea typeface="Aptos"/>
                <a:cs typeface="Aptos"/>
              </a:rPr>
              <a:t>解釈: 2026年は実証・制限付き商用、2030年は都市/短距離商用の成立、2035年は高頻度・広域用途の成立を想定したターゲット。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08F61D-FD43-434A-BDEB-D6CBF3C6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NASA EAP mid-2030s goals; 低空航空器動力電池技術路線図 2025; sizing assumptions.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A00F05C-A01D-423D-BCA5-DC6220BE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14780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2D832-7F14-48CF-89F8-692A5739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BAD8C594-F2CF-4BFD-8ED7-DA8E1C41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E2B9FD14-CE7D-4CE7-A29F-11B2E8A1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EVTOL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1F7D8-DCDE-4649-AE56-515EEB95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eVTOLは、短距離観光から定期都市路線へ進むほど電池・熱・冗長性が厳しくなる。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999A4-EF5A-47B0-A73E-E33981E1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8A2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9D12E-A126-4F69-A2E8-9BD5987A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98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3A669-3DB5-4923-BF61-195C5F4C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24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成立しやすい用途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81414-91B7-4807-B190-6F9B59E9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43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24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24B"/>
                </a:solidFill>
                <a:latin typeface="Aptos"/>
                <a:ea typeface="Aptos"/>
                <a:cs typeface="Aptos"/>
              </a:rPr>
              <a:t>短距離観光、空港/景区、貨物・公共用途。運航制限と地上監視が前提。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E9F50-38E4-4D15-BB5B-196E581A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862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8A551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8A5514"/>
                </a:solidFill>
                <a:latin typeface="Aptos"/>
                <a:ea typeface="Aptos"/>
                <a:cs typeface="Aptos"/>
              </a:rPr>
              <a:t>必要部品: 300Wh/kg, 4C/8C, 800-1000V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8F06D-9623-473A-94A7-0C778BA6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2C8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9C140-8F0C-4B06-ABC1-0EFC9AD9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098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2030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D7CF4-BD90-438A-8BB3-73E8987A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24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商用ネットワーク化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ADE0D-B860-48B1-843F-F9F905FC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43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24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24B"/>
                </a:solidFill>
                <a:latin typeface="Aptos"/>
                <a:ea typeface="Aptos"/>
                <a:cs typeface="Aptos"/>
              </a:rPr>
              <a:t>都市内/都市近郊の定期短距離。充電・消防・予約・運航管理が統合。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70141-9EA3-4970-9DD1-E6B4136A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862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8A551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8A5514"/>
                </a:solidFill>
                <a:latin typeface="Aptos"/>
                <a:ea typeface="Aptos"/>
                <a:cs typeface="Aptos"/>
              </a:rPr>
              <a:t>必要部品: 400Wh/kg, 10C peak, 1-2kV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CA79C-DD9A-4095-B433-39B02A47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0025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5BC0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D2F39-5786-49ED-9710-4DD7CFF3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098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2035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DFB77-BEA9-4CA1-8D33-F01C63CB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24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高頻度・広域化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D18584-3204-415C-A60D-115BC3CA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432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24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33424B"/>
                </a:solidFill>
                <a:latin typeface="Aptos"/>
                <a:ea typeface="Aptos"/>
                <a:cs typeface="Aptos"/>
              </a:rPr>
              <a:t>複数都市での高稼働、遠隔監視/自動化拡大、保守予測が標準化。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5EA71-793F-421D-8ECF-85F7E597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2862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8A551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8A5514"/>
                </a:solidFill>
                <a:latin typeface="Aptos"/>
                <a:ea typeface="Aptos"/>
                <a:cs typeface="Aptos"/>
              </a:rPr>
              <a:t>必要部品: 550Wh/kg, 99.5% PE, 構造冷却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4219DB-197C-492D-95D4-04D03BA4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FAA AAM; CAAC low-altitude economy; sizing model.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BC770-F329-47EB-B030-0E987BBC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9631021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177098-5069-4DBA-BAC4-85C988D1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1CEFD7EE-FB0D-4196-A37F-64E4DDC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B66E9C84-6012-4F1F-8E8A-18131311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ELECTRIC FIXED-WING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789AE-34BB-4456-AD26-EBB51F44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電動固定翼は訓練・短距離から先行し、2035年は純電だけでなくハイブリッド/水素電気が本命化する。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1C221-2BF5-4894-A52C-1194735D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8B9FE-35EC-4867-A410-489505B9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BA9E3-15D0-485A-AE99-038082E3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A71F8-643D-41FA-96AF-3E48FE4A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5740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成立しやすい市場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E01DE-F64C-482F-B971-5CE61AD2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70B6C-7131-46DB-9EDA-D95F75DF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5740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主要制約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7A4A5-445C-4D2A-9E82-3739953E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002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25194-5B45-4A03-B28D-ED7AD23E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57400"/>
            <a:ext cx="3181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必要スペック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353F6-8C26-43D3-AA51-08A54366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CFB02-3F62-4AA5-BCF6-16FB5C05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3E828-22F0-4A68-9F63-EFA74CF0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124F2-3EDD-4D41-9B73-52E48D9E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241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2-4座訓練、体験飛行、水上観光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09197-026D-42F6-A032-27C92602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03789-E3F8-4F9F-9258-18D8D6E8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予備込み航続と電池寿命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F3E24-9026-43DE-BF72-FA96545D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670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C0AC5-15CB-46E0-9B2D-4403E23E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24150"/>
            <a:ext cx="3181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300-400Wh/kg, 2C/4C, 50-150kW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C2228-BD00-465F-9C4C-16DAC044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34CAE-B980-4FAF-B730-E12332B2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2030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40431-54C7-4A7D-910F-84CF436C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33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D946B-1FA9-4B9A-958E-77CD72AC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9090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短距離コミューター、島嶼/山岳ルート、巡視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1C7BB6-1644-4897-A4B9-BA078E43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7B6025-F0A6-400B-8C03-F7E351C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9090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電池交換費と地上電力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E323FA-9B6D-4B7D-B5AD-565E75AF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3375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262D59-EF18-433C-BC24-E2143EB4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3181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450Wh/kg, 800V-1.5kV, 300kW充電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572820-B7EF-4313-AFD9-A1401CD1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58F929-5E0E-44F9-AEB0-7D41B96C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2035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C0F088-1E9A-404D-8D4D-0BFDF77A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77F3FD-644D-48CD-B461-4130ACE5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576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9-19席級の地域航空候補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9B67AA-9CB8-4FE1-A193-78DC65C9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851716-48C3-4DCD-9970-C591F0DB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576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純電の航続限界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877C59-0330-4D2C-AFF7-EC18D92A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333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208072-43D3-42A2-A3A0-9E9F7B9E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57650"/>
            <a:ext cx="3181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550Wh/kg級 or H2/ハイブリッド, MW級EAP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719C53-4E88-48AC-A523-EF23D013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示唆: 滑走路を使える固定翼はeVTOLよりエネルギー効率で有利。ただし地域航空へ広げるには、電池だけでなく燃料電池、ターボ発電、SAFとの組み合わせが必要になる。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5F473E-2B22-432E-8553-636BC76A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CAAC RX4E/RX1E-A; NASA EAP; EU ReFuelEU.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497A67-DE57-416D-9220-6816DE23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373642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18FE63-C13C-4524-8B60-5ECFD66F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7DFFE0C0-D1AB-460B-9C11-FFF1B740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E9D89BC1-D44C-48AE-A297-C455BF66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INNOVATION MAP: BATTERY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5048C-CA15-4FEF-8522-1C059DD7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電池革新は、比エネルギーだけでなく高C・安全・寿命を同時に満たす必要がある。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FCDAC-5971-4B58-8060-120267D3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セル・材料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05A5E-3D78-4BBA-B869-EE20835F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78E61-EE5D-4BFC-B92F-35742A49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92880-31FF-4648-97AC-8DADBE63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高Ni/単結晶NMC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433AA-325F-419B-B6B5-7824C2D2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高エネルギーと出力の現実解。熱安定性と寿命が課題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D3B96-E000-4656-901D-4FAF03C4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4DD37-AA82-44A5-97D6-7B3BA237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Li金属/固体電池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D5C7F-23B8-40E4-A58B-7A49E7B5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500Wh/kg級セル候補。界面抵抗と量産性が壁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C2028-BA27-43FC-BAFF-210AB1CF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E7D4C-E022-4954-8669-2C0556E6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Si/C負極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AD3E5-AA87-4015-B268-F7647A5B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密度を上げるが、膨張と急速充電劣化を管理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D86CE-7A78-4E7E-ADD3-59EB531B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5E231-8631-4224-B019-D9407C0E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高出力LFP派生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916A0-CF9B-4C8C-B5C7-DD16BB43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安全性は高いが比エネルギー不足。訓練機・地上用途向き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29B34-5BAB-4F3A-A859-070D8CB7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パック・安全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BDB66-3C53-4B5C-B2CD-848CA319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E288D-99FB-4B9C-8630-4D3B007D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C35FB-EB2F-46E8-9C8E-4F984056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cell-to-pack航空化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013A4-B914-4838-BA21-1DD35AF1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構造重量を減らし、整備・隔離・交換性を確保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1A1CF-FB53-40BD-AF1F-BAA12899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1B685-E5AF-42C6-8803-CD41A1CF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非伝播モジュール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B349B-DF51-4775-8D2F-D1008A37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熱暴走ガス、火炎、破片を隣接モジュールへ伝えない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299F40-55A5-493B-B4C8-B346DA99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383458-8FAE-4879-BAB0-D523FD45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SOP推定BMS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6A4994-3397-4207-866B-6A3173EB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温度・劣化・SOCから飛行可能出力をリアルタイム算出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B7859-F64E-4C50-9DA0-0A970CAD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131883-C558-4677-B8AF-248D1B5A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急速充電劣化制御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36D016-3417-41AB-A6F7-62F05B78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予熱/予冷と曲線最適化で日次稼働率を上げる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90FEB-4C19-478D-913F-23D2F878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RSC cell-selection review; EASA MOC; 低空航空器動力電池技術路線図 2025.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F18087-9DF0-4FC1-9044-C0FB053D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033394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B0AEAD-5141-4C68-AF9E-5B66AC41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C496728A-EB36-466A-9A1C-2CED11CE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4DC40BA8-5D0B-4964-A01F-13C0352C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INNOVATION MAP: MOTOR AND THERMAL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83E0F-1A70-408A-8645-C814AF76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効率1ポイントの改善は、冷却系と電池容量の両方を軽くする。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A3525-14B7-47C2-A77F-4C5F697D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モータ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FB8CE-6705-418E-8733-59278C48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9E5D4-7477-451C-8D82-B94423CF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8C4CF-D079-4BCF-A227-1F5B4E27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高周速PMモータ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5C86C-F7FE-4C7B-AB43-E4B3DB57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小型軽量化。磁石温度と機械応力を管理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0EFA4-2599-47AA-A444-958E1786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6FB7B-D88A-4BB1-96AE-8DC5AD9A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軸方向磁束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CBDD7-744F-4A3E-A142-5C602A0D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短い軸長で高トルク密度。冷却と量産公差が鍵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24026-DA39-4C92-87EF-B351E076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6C4EF-8E84-4582-812F-D09070DA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超電導/極低温機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6730F-EB61-4D2B-8734-B62713C3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MW級・大型ハイブリッド候補。冷却系が重い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CC02C-02D1-4F81-AE16-BA4BDDAF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A1CBC-30EC-49B9-B36A-1E7AA45E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統合プロペラ/モータ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E6560-820E-479D-8042-30A9388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減速機省略、騒音、整備性を同時設計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5D2BA-C62B-4D9B-968B-B602AEAD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熱管理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3148C-0803-4417-8BF3-B328A747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5D0F7-EB42-403C-8FD6-7A07F0FC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75552-D905-44BE-9C36-EC3AEFAD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浸漬冷却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1E0B9-CFC9-46A4-81A8-D3045853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セル温度均一化と急速充電に有利。絶縁液と整備性が課題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69ED12-A655-490A-BAE1-4936D1F4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D589E1-C8CB-4EE2-964A-02E2C19C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構造冷却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E07BB-C5CB-4A1A-9820-067F6113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翼/胴体を熱交換器化し、ラジエータ抗力を下げる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BD012-9509-40F2-B801-39CC9781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D58813-0163-4CD4-ACF8-5FAF03C8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相変化材料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17766B-27DB-4EB3-A495-AB5F640C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短時間ピークを吸収。重量と再冷却時間を管理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B45E74-3918-40E9-9055-257D461F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4614E0-EE4C-4AE7-AC29-379BCC73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統合熱OS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3000BB-2F90-4C65-8A7D-A17DB68D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電池、PE、空調、充電をミッション単位で制御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A4BADF-D3EC-40A1-BD82-63998994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NASA Electric Machines / Power Converters / EAP.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2421F5-F247-4B2B-A5BE-CF188D05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167241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88AB00-ED36-4C14-BC0E-2108A2AC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E64E36AF-A768-4126-AC13-EFEA7455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EF5E2FB3-4588-408B-8816-B560DCE3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INNOVATION MAP: INVERTER AND HV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45B07-F834-4C24-B226-432695F3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SiC・高電圧・遮断技術が、MW級電動航空機の実装条件になる。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DB53D-B724-4732-9EFB-1EBC27FA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パワエレ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FE9A6-C149-420F-954C-BD911F41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5F621-1838-435E-992A-93CB07DE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1B27F-0CF4-43C4-886B-4BEE892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SiC MOSFET高度化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5BB2A-F29B-4F22-885D-1AD96413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高温・高周波・低損失。ゲート保護と短絡耐量が重要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4CFD4-3E9A-47A5-B0A5-33A6528B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203FF-E731-4875-ABDC-CD7CB72E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GaN補機電源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8AADA-B543-4D90-ABDB-80832077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DC/DCや低電圧系の小型化。主推進はSiC中心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E344E-9CCE-447B-B9B6-532914F0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B720C-78EF-4BA8-811B-EB207E93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3D実装/両面冷却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6E122-A924-4480-B66C-4AE1DEC9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kW/kgを引き上げ、熱抵抗を下げる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82AB6-A3DE-4119-B647-57C7FBCA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44D58-BE6A-4B26-AB35-E3D63832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モデル予測制御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C019E-C916-4CB7-B7DA-141DCDF6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効率、温度、騒音、故障時トルクを同時制御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87329-EB3B-4A07-9A46-AAFA1B0C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高電圧配電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F63C8-661A-45EC-9A0B-AF8666BB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83ADC-7081-4D14-AF6E-F2C37F48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E89EB2-D22E-4622-9B16-EBDFDF44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1-2kV航空絶縁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4F643B-F539-4BD2-84E0-97D0AF77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電流と銅重量を削減。高度での部分放電が制約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D2107-6CB1-414A-9CAC-FA54059B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6BC98-80ED-4022-B6E2-2B7E4815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半導体遮断器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182D2-48DC-4E64-8A11-747FA816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ms級遮断でアーク・短絡を局所化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73D734-C06B-4171-968F-37BE6C5B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3F1050-E48A-445C-BE33-CEC2BEBB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ゾーン分割バス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60633-107E-4C61-B46F-BEE03367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単一故障で全推進喪失しない電力アーキテクチャ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0171CB-6F6A-4500-84AC-08AD4EF2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68964E-784F-44EF-ABD0-A08D8D75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HVコネクタ標準化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47F5B7-C00E-4313-8135-75C8F9DF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交換パック、整備、充電の安全性と互換性を高める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EF2D8E-A8F5-42F9-9A45-B299842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NASA Power Converters; FAA/ZeroAvia electric engine special-condition context; CAAC H chapter.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371502-444E-4361-8508-BA4111C1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379948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B53638-B09D-4464-8B8D-C51BFB55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53ADC65E-B7C0-44C8-92AA-FFF6EFE0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3EF145CD-72E3-4F84-9690-EDA9E566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INNOVATION MAP: SOFTWARE AND CERTIFICATION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F0CE2-0A3F-4AD2-A659-486D8D40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認証・運航ソフトは、2030年代にはコンポーネント仕様の一部になる。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0CEED-38F6-4D7C-BFA1-0D5CAEC0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制御・診断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24BE5-32AE-431C-94A4-C4B1ED65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11BE0-8AC8-4A63-8150-0E5B5B3F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02CD7-3230-4D3E-93D0-A8728CE8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エネルギー管理FMS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D64CD-3F31-4F44-98DD-7FAF2F76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風、予備、温度、劣化から残ミッション可能性を更新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AB953-8F4D-4CFB-A6C6-BAD8C5BE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B5440-D445-4451-A9BD-EAA2CFF6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デジタルツイン整備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B79AF-88F5-4FBC-B2B1-D4C8CEB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セル劣化、熱履歴、振動、故障予兆を機体別に追跡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24780-3DE3-4EB8-8AC6-7A6E63B2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7A37B-6601-466A-BE9D-BA75C8E7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故障時再配分制御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DC2BE-59AE-4E3D-AFA0-C800765E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モータ停止、バス隔離、熱ディレート時の推力再配分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14988-5A5E-4F87-B2A1-BBD67EF9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50D05-4672-43B3-931E-A9146DA7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自動充電診断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36C48-7854-4D54-95D8-0F54D9E8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地上でSOH、絶縁、熱履歴を判定しdispatch可否を返す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80905-58B3-42B1-BBF9-184DD113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認証・運航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10352-8870-45BE-A88A-F3A6C49C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0275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8E6BF-6FEC-4B24-BAA0-50243AA4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86282-D669-4E07-A7B7-5DD37098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認証用データ基盤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43545-80B6-45B2-BF7F-74AB00CE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BMS/PE/飛控ログをMoCと継続耐空に接続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0BA318-7EAF-473C-A3F2-658D5637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4792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A1534-FE8B-4AF6-86F0-84D8EE16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4317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標準シナリオ運航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A645DF-E5B1-4B33-84E4-8B5A6163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5272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限定ルート、気象、地上体制をパッケージ化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ED8A6F-7308-46BE-BADB-F2F2B640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2989AF-5348-40DE-989B-4CE75E97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UTM/AAM統合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D1A502-463C-4C59-820C-45307FD5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予約、空域、vertiport、充電枠を一体管理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B6F05-E6A4-450D-B12B-D81815FF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19475"/>
            <a:ext cx="2714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0404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8DFE6B-4C0F-4C4E-AACF-C5AF56CF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14725"/>
            <a:ext cx="2447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サイバー/EMI安全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BA13CB-843D-450E-97F9-FF1F9D0E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724275"/>
            <a:ext cx="2447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遠隔監視と高電圧機器の相互干渉を設計段階で管理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E8DAB1-163C-4778-BF20-195B2EAC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FAA AAM; EASA SC-VTOL; CAAC low-altitude/UAS framework.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F1E54F-F6EA-4C6A-86A5-36FD7155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7250547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823F2B-B722-4039-90E8-812A459B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BA3DBE6F-3140-4DD8-9AB2-9C0167EF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044F35ED-6BD0-4B4D-9EAB-7E3A6E88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STRATEGIC IMPLICATIONS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FA37F-C814-4C23-A745-6EA07ABE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部品戦略は、単一の“最強電池”待ちではなく、改善クロックの違いを前提に組む。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1C30A-E101-4080-AF03-BCF5A320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短期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9129C-1899-40C3-BB3A-FE157F03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00250"/>
            <a:ext cx="8334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FBE29-A9B9-4487-A4CA-59B7887F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71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ミッション短縮で成立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10F41-0C88-4513-B764-CD4393D4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24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24B"/>
                </a:solidFill>
                <a:latin typeface="Aptos"/>
                <a:ea typeface="Aptos"/>
                <a:cs typeface="Aptos"/>
              </a:rPr>
              <a:t>短距離・制限付き運航を先に作り、実データでBMS/熱/整備を育てる。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59552-666E-43B6-BB99-13357736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中期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92D01-44DA-4FD9-863D-BB6B87C9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0"/>
            <a:ext cx="8334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D573B-FB49-437B-B433-8E16F95F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09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パックとPEをモジュール化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15812-9438-4503-BBDE-7343609C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290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24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24B"/>
                </a:solidFill>
                <a:latin typeface="Aptos"/>
                <a:ea typeface="Aptos"/>
                <a:cs typeface="Aptos"/>
              </a:rPr>
              <a:t>セル世代更新を機体改修なしで受けられる設計にする。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9BBEB-7981-4836-9030-08288527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15D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15D44"/>
                </a:solidFill>
                <a:latin typeface="Aptos"/>
                <a:ea typeface="Aptos"/>
                <a:cs typeface="Aptos"/>
              </a:rPr>
              <a:t>長期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046D7-5190-4059-9D90-D441314A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334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2FE9D-615E-4ED4-A8C8-E9CB8A2B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純電とハイブリッドを分岐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1800F-D375-48DF-899D-B48BB640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672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24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24B"/>
                </a:solidFill>
                <a:latin typeface="Aptos"/>
                <a:ea typeface="Aptos"/>
                <a:cs typeface="Aptos"/>
              </a:rPr>
              <a:t>eVTOLは高頻度短距離、固定翼は純電短距離とH2/ハイブリッド地域航空を分ける。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F82EE-5C11-4F21-8553-EB9CEC15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synthesized from component sizing and roadmap assumptions.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75084-FFBF-4B7C-B306-91B86174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8671867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0A14DC-35AF-44AC-A6A9-92ACB89A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3854184A-5FFE-4089-BE47-92A94A67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81D3240D-07AB-4829-9515-1E7885EB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GAP CLOSURE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A2509-1F22-4A1E-A0A7-93576FD8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2035年スペックは、複数の革新が重なって初めて到達する。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333FF-A4C1-4C7C-8EE7-293EDE7D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047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7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C3703-8D39-4FA7-8DCF-8CB987C5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004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300 Wh/kg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F63BB-3C8F-4E61-B8BD-B8A5FD9E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72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現在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17B1B-C8B3-4A2E-8FA8-43020296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95638"/>
            <a:ext cx="1047750" cy="2043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6E7F8-8378-4574-A8C2-48C8002F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928938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390 Wh/kg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1CC01-C00D-41BB-81C2-D902D834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72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セル高密度化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AC31C-5C92-4561-80D2-20067367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10477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FE9B4-54D8-49CD-9456-CC373FB6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670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440 Wh/kg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8159E-48A0-45BF-AA73-EF0C9C44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72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パック軽量化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90A2D-762E-4428-A24B-13EAB6FF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24150"/>
            <a:ext cx="10477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AF26B-EF1C-406A-9793-01D81CE7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57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480 Wh/kg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A6389-51FD-45D1-8740-59CB5757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372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熱/安全統合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A9258-E2E8-4B20-8988-6ABF1E4B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57438"/>
            <a:ext cx="1047750" cy="2881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B9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F7666-A210-4B02-AA9D-D53A644F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0738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550 Wh/kg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62A71F-845A-4E78-9BA9-D4162A94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72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Li金属/固体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1E0B5-5BE8-4A11-81D6-43151265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目標: eVTOL代表ミッションで650kg級パック、固定翼代表ミッションで450kg級パックを成立させる。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1847A-5DA2-49B0-AEEC-B49E344E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75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E"/>
          </a:solidFill>
          <a:ln xmlns:a="http://schemas.openxmlformats.org/drawingml/2006/main" w="9525">
            <a:solidFill>
              <a:srgbClr val="3345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32B4D8-E819-4A16-B275-75D10CB4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670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比エネルギーだけでは不足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E6B11F-3315-4EF7-928A-C0D91BC6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05200"/>
            <a:ext cx="120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8D1D8"/>
                </a:solidFill>
                <a:latin typeface="Aptos"/>
                <a:ea typeface="Aptos"/>
                <a:cs typeface="Aptos"/>
              </a:rPr>
              <a:t>高C出力、非伝播、安全遮断、急速充電寿命、熱管理、認証データまで同時に成熟が必要。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B4CDD-5DB9-4F5D-B558-00AB96E2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Sources: scenario roadmap; 低空航空器動力電池技術路線図 2025; NASA EAP.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EEAA9-38E4-4EBD-807D-BDD6E2CA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960786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959E9-5AEF-4850-8749-CF500768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44EAB249-44D4-4865-81DC-D7598236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97BA024D-BDAE-467E-BED8-DCAF59FE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CALCULATION 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06560-5707-427B-8FB8-19578F67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主要式と代表計算は、前提を変えればそのまま再利用できる。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9092A-24B7-41FA-9F32-6780F051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1143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411D6-9CB8-4B5B-8236-80D78FBE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14525"/>
            <a:ext cx="9906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計算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F03AD-4BEE-4D61-96C6-B9646410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57375"/>
            <a:ext cx="257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20467-6450-45B4-92D3-0BEC6D27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14525"/>
            <a:ext cx="2419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4DE91-ABCE-4C89-B20D-3478E282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EBBC3-7F21-479B-A75E-3B1E28BA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14525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eVTOL例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A96D7-C53B-4C27-8FC0-A53F9BEB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573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D897E-331A-4229-A176-43F0BC8C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14525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848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固定翼例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438B8-6DCA-40FF-820B-D77C6C9B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143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98354-5A84-4E71-80AF-87DB37D9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9906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電池入力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D63F7-1E44-4BE2-A9B0-D429C1B9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38400"/>
            <a:ext cx="257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77C20-BB92-4D8B-9BEE-83909C85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95550"/>
            <a:ext cx="2419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P_batt = P_shaft / η_total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5D07A-8DAD-4BF9-8D3D-59AACA7C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3840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45DD9-1B3F-4F97-AE3F-752C0E0F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95550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hover 508/0.936 = 542kW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49A40-869F-416E-A99E-20692FB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40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A8AFB-6D47-492C-BC4F-EBD6F071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95550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cruise 41.9/0.936 = 44.8kW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40443-106C-42E1-AF7A-650DFC6A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1143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C585E-F294-4F45-B9F1-A786E909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9906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公称容量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ED66C-E899-4731-A860-27FB3223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19425"/>
            <a:ext cx="257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2FF86-03B1-4589-8DE7-2FA0A986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76575"/>
            <a:ext cx="2419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E_name = E_req/(SOC×EOL)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061B1B-5F81-415E-BE46-C6466122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1942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9F44C-7DA8-4F00-808F-3B060781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194/(0.70×0.80)=347kWh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46B102-C8A9-4301-B739-7E120A11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1942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E83D43-1902-45CE-95EE-DF475C74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76575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134/(0.75×0.80)=223kWh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14AE0-3E18-44A3-8A98-A420C35B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1143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331ECB-95BF-41CC-B8F9-231930CC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9906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Cレート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CEC303-4832-447D-82CC-AE308E80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0450"/>
            <a:ext cx="257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6B79AE-9482-4719-8ADF-2DA6C4A3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57600"/>
            <a:ext cx="2419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 = P_peak/E_name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A05A38-7C22-4B0B-8283-BDB009AE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AE3519-A1C9-4735-B80D-05803DA7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874/347=2.5C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F3E3C6-B5DE-4412-A520-FC0C842B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045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E42411-EDAB-474C-8FB0-40CC98F6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57600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161/223=0.72C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BFE580-E057-47FF-975E-A7D156E7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1143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299F8F-5997-4731-8570-BBD8D105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9906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電流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4FF820-5C57-4103-A1BB-EFF43841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81475"/>
            <a:ext cx="257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CA09D6-9A97-43A4-908C-81B00013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38625"/>
            <a:ext cx="2419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I = P/(V×η_inv)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B77B03-21B8-467F-91C4-EE8A3613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814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BE1BF7-52C1-4EA9-BC41-72950332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38625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874kW/1kV ≈ 887A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F1B722-1D03-44A4-9538-58221540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814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9B889E-F730-4117-92DE-077604EF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38625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161kW/800V ≈ 205A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68E551-09BA-4CA6-B66A-65F264F9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143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B11BAD-3D81-4BB9-9588-A1FC7A6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9906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充電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F9F631-C7AD-4A54-8E24-D16D76FF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62500"/>
            <a:ext cx="257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EE7406-B271-4E9D-8BEC-FF011605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19650"/>
            <a:ext cx="2419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 = E×0.8/t/η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6BF5FA-20CA-4756-8738-6653C134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6250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B3E3FF-8A9F-4521-8796-F8511305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9650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15分 ≈ 1.1MW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F8A968-3A52-4708-A490-02019049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/>
          </a:solidFill>
          <a:ln xmlns:a="http://schemas.openxmlformats.org/drawingml/2006/main" w="9525">
            <a:solidFill>
              <a:srgbClr val="D8CEB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7DCF41-82E5-44B9-9CD5-DC68AA2F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19650"/>
            <a:ext cx="2800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30分 ≈ 376kW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7840E0-9F33-4E16-B6D3-413B2608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注: eVTOLのCレートは保守的な大容量パックでは低く見える。短距離化や小容量化で軽量化すると、同じピーク出力に対して4-8C要求が現れる。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7BF77B-CC7F-47E3-A6EE-6882CAC2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Sources: repository sizing model.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A664E0-A9B4-4413-BDEA-99A2E965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3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5422659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B4302F-E410-4521-8C70-D96DD5F8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9500A1B3-FC55-4747-BB36-A060AD53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345606E4-D9CF-44A8-994A-B5145605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7B2B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7B2BA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EE640-6601-410C-889A-0E742854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本資料の数値は、公開ベンチマークと明示した設計前提を分けて扱う。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F89A2-FE06-4D36-9BFE-8F1DB8BE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部品技術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309E2-91E1-4692-B99F-F321EC6E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52625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NASA Electrified Aircraft Propulsion / Electric Machines / Power Converters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68E2D-74B2-46A8-A483-654E12C7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F75C7-3299-451B-9223-E772E64B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電池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CDF2D-8619-49C7-8D57-5B5EBAA4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81275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RSC eVTOL cell selection review; 低空航空器動力電池技術路線図 2025; 中国工程科学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C3D30-1054-4E53-A6EC-9143DB56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20CE5-653E-4CC8-92EE-E01BCDEA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A2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A23A"/>
                </a:solidFill>
                <a:latin typeface="Aptos"/>
                <a:ea typeface="Aptos"/>
                <a:cs typeface="Aptos"/>
              </a:rPr>
              <a:t>中国機体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B3F00-AFB0-4130-88CD-ABDFE105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9925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CAAC CCAR-23 H章; RX1E-A/RX4E/RX1E-S公開資料; 中国政府网; 中新网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F65FD-DF99-4E4E-9625-60800FDE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4A74E-7E45-4B25-97FE-964EDDDA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安全認証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FF5F3-117F-4F77-916A-38B0FE6B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38575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EASA SC-VTOL MOC; RTCA DO-311A; ASTM F3338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11915-2AE6-4E7C-9D01-C4BD3D3E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26D45-ABA3-4D43-9854-15DFCBAB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政策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41B787-AD06-4309-8A44-913B6B5B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67225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EU Regulation 2023/2405 ReFuelEU; ICAO LTAG; FAA AAM Implementation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598E5-53E9-4FF1-A82C-9D18A92B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F182E-2186-4086-AEA0-5566CAEE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C0B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BC0BE"/>
                </a:solidFill>
                <a:latin typeface="Aptos"/>
                <a:ea typeface="Aptos"/>
                <a:cs typeface="Aptos"/>
              </a:rPr>
              <a:t>計算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F25DB-5749-4B90-85A1-6ADF6C60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95875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3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3E8"/>
                </a:solidFill>
                <a:latin typeface="Aptos"/>
                <a:ea typeface="Aptos"/>
                <a:cs typeface="Aptos"/>
              </a:rPr>
              <a:t>本ワークスペース research/component-requirements-and-sizing.md と本デッキ data.json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BDF6E-8706-4207-842E-5B6242FE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24C41-0458-4A78-BE3E-39081D9B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923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D1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1D8"/>
                </a:solidFill>
                <a:latin typeface="Aptos"/>
                <a:ea typeface="Aptos"/>
                <a:cs typeface="Aptos"/>
              </a:rPr>
              <a:t>想定値は機体メーカーの認証性能ではない。実設計では空力、騒音、気象、予備規則、運航制限、保険、充電設備、整備データにより再計算が必要。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C6E5E5-7F0D-484A-940B-164DB611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Source details are also indexed in /Volumes/ex/study/e-plane/MOC.md.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FB0184-264A-46EA-8C30-794E3CA4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532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3A0A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0A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61607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2026-06-03T14:36:58.9200000Z</dcterms:created>
  <dcterms:modified xsi:type="dcterms:W3CDTF">2026-06-03T14:36:58.9200000Z</dcterms:modified>
</coreProperties>
</file>